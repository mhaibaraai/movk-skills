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52" r:id="rId4"/>
    <p:sldMasterId id="2147483654" r:id="rId5"/>
  </p:sldMasterIdLst>
  <p:notesMasterIdLst>
    <p:notesMasterId r:id="rId7"/>
  </p:notesMasterIdLst>
  <p:handoutMasterIdLst>
    <p:handoutMasterId r:id="rId17"/>
  </p:handoutMasterIdLst>
  <p:sldIdLst>
    <p:sldId id="2107" r:id="rId6"/>
    <p:sldId id="1814" r:id="rId8"/>
    <p:sldId id="1880" r:id="rId9"/>
    <p:sldId id="2096" r:id="rId10"/>
    <p:sldId id="1887" r:id="rId11"/>
    <p:sldId id="2084" r:id="rId12"/>
    <p:sldId id="1889" r:id="rId13"/>
    <p:sldId id="1950" r:id="rId14"/>
    <p:sldId id="2118" r:id="rId15"/>
    <p:sldId id="2108" r:id="rId16"/>
  </p:sldIdLst>
  <p:sldSz cx="12195175" cy="6858000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E08C"/>
    <a:srgbClr val="C00000"/>
    <a:srgbClr val="D9D9D9"/>
    <a:srgbClr val="000066"/>
    <a:srgbClr val="000000"/>
    <a:srgbClr val="FFFF99"/>
    <a:srgbClr val="EDCFB1"/>
    <a:srgbClr val="0033CC"/>
    <a:srgbClr val="FF9B37"/>
    <a:srgbClr val="AB33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20" autoAdjust="0"/>
    <p:restoredTop sz="96336" autoAdjust="0"/>
  </p:normalViewPr>
  <p:slideViewPr>
    <p:cSldViewPr>
      <p:cViewPr>
        <p:scale>
          <a:sx n="100" d="100"/>
          <a:sy n="100" d="100"/>
        </p:scale>
        <p:origin x="-1224" y="-306"/>
      </p:cViewPr>
      <p:guideLst>
        <p:guide orient="horz" pos="2160"/>
        <p:guide pos="38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312"/>
    </p:cViewPr>
  </p:sorterViewPr>
  <p:notesViewPr>
    <p:cSldViewPr>
      <p:cViewPr varScale="1">
        <p:scale>
          <a:sx n="116" d="100"/>
          <a:sy n="116" d="100"/>
        </p:scale>
        <p:origin x="-2100" y="-108"/>
      </p:cViewPr>
      <p:guideLst>
        <p:guide orient="horz" pos="3127"/>
        <p:guide pos="212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1" y="9430091"/>
            <a:ext cx="6796104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05A3FA08-9558-4D6A-AB01-0C7C6435464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4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7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4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7" y="9430091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7F59D-9C72-4000-81C6-09649AAACBF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B4A17FE-9BB6-48AB-A590-6609849EA56A}" type="slidenum">
              <a:rPr lang="zh-CN" altLang="en-US">
                <a:solidFill>
                  <a:prstClr val="black"/>
                </a:solidFill>
                <a:latin typeface="Arial" panose="020B0604020202020204" pitchFamily="34" charset="0"/>
              </a:rPr>
            </a:fld>
            <a:endParaRPr lang="zh-CN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1469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6200" y="746125"/>
            <a:ext cx="6624638" cy="3725863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2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839019" y="9434252"/>
            <a:ext cx="2935779" cy="497522"/>
          </a:xfrm>
          <a:prstGeom prst="rect">
            <a:avLst/>
          </a:prstGeom>
          <a:noFill/>
        </p:spPr>
        <p:txBody>
          <a:bodyPr lIns="88248" tIns="44123" rIns="88248" bIns="44123" anchor="b"/>
          <a:lstStyle/>
          <a:p>
            <a:pPr algn="r">
              <a:defRPr/>
            </a:pPr>
            <a:fld id="{393F7443-38F7-4E03-81E6-EF3322E5C9AB}" type="slidenum">
              <a:rPr lang="zh-CN" altLang="en-US" sz="1100">
                <a:solidFill>
                  <a:prstClr val="black"/>
                </a:solidFill>
              </a:rPr>
            </a:fld>
            <a:endParaRPr lang="zh-CN" altLang="en-US" sz="1100" dirty="0">
              <a:solidFill>
                <a:prstClr val="black"/>
              </a:solidFill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7F59D-9C72-4000-81C6-09649AAACB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419387" y="2059940"/>
            <a:ext cx="9356400" cy="1476000"/>
          </a:xfrm>
          <a:prstGeom prst="rect">
            <a:avLst/>
          </a:prstGeom>
        </p:spPr>
        <p:txBody>
          <a:bodyPr/>
          <a:lstStyle>
            <a:lvl1pPr algn="dist">
              <a:defRPr sz="6000" b="1">
                <a:solidFill>
                  <a:srgbClr val="C00000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defRPr>
            </a:lvl1pPr>
          </a:lstStyle>
          <a:p>
            <a:r>
              <a:rPr lang="zh-CN" altLang="en-US" smtClean="0"/>
              <a:t>单击此处编辑标题样式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414713" y="5105400"/>
            <a:ext cx="536575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altLang="zh-CN" sz="2800" b="1" i="0" u="none" strike="noStrike" kern="1200" cap="none" spc="0" normalizeH="0" baseline="0" noProof="1" dirty="0">
                <a:solidFill>
                  <a:srgbClr val="0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单击此处编辑单位</a:t>
            </a:r>
            <a:endParaRPr lang="zh-CN" altLang="en-US" smtClean="0"/>
          </a:p>
          <a:p>
            <a:r>
              <a:rPr lang="zh-CN" altLang="en-US" smtClean="0"/>
              <a:t>日期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9188" y="6356350"/>
            <a:ext cx="2846387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92375900-F06C-47E2-B5A9-9198EDF4A7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/private/var/folders/71/x35fkw754pz8778p5s8f84v00000gn/T/com.kingsoft.wpsoffice.mac/picturecompress_20220817124148/output_1.jpgoutput_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-202"/>
            <a:ext cx="12195176" cy="6858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/private/var/folders/71/x35fkw754pz8778p5s8f84v00000gn/T/com.kingsoft.wpsoffice.mac/picturecompress_20220817124130/output_1.jpgoutput_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-202"/>
            <a:ext cx="12195175" cy="685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6"/>
          <p:cNvSpPr txBox="1">
            <a:spLocks noChangeArrowheads="1"/>
          </p:cNvSpPr>
          <p:nvPr userDrawn="1"/>
        </p:nvSpPr>
        <p:spPr bwMode="auto">
          <a:xfrm>
            <a:off x="212495" y="764711"/>
            <a:ext cx="8893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200" b="1" dirty="0">
                <a:solidFill>
                  <a:srgbClr val="000000"/>
                </a:solidFill>
                <a:ea typeface="黑体" panose="02010609060101010101" pitchFamily="2" charset="-122"/>
              </a:rPr>
              <a:t>中国石油</a:t>
            </a:r>
            <a:endParaRPr lang="zh-CN" altLang="en-US" sz="1200" b="1" dirty="0">
              <a:solidFill>
                <a:srgbClr val="000000"/>
              </a:solidFill>
              <a:ea typeface="黑体" panose="02010609060101010101" pitchFamily="2" charset="-122"/>
            </a:endParaRPr>
          </a:p>
        </p:txBody>
      </p:sp>
      <p:pic>
        <p:nvPicPr>
          <p:cNvPr id="9" name="Picture 2" descr="E:\CNPC-VI手册\tmx.gi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31" y="154211"/>
            <a:ext cx="609441" cy="568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/private/var/folders/71/x35fkw754pz8778p5s8f84v00000gn/T/com.kingsoft.wpsoffice.mac/picturecompress_20220817124140/output_1.jpgoutput_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-202"/>
            <a:ext cx="12195175" cy="685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ransition/>
  <p:hf hdr="0" ftr="0" dt="0"/>
  <p:txStyles>
    <p:titleStyle>
      <a:lvl1pPr algn="ctr" defTabSz="957580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57580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57580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57580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57580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defTabSz="957580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defTabSz="957580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defTabSz="957580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defTabSz="957580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58775" indent="-358775" algn="l" defTabSz="957580" rtl="0" eaLnBrk="0" fontAlgn="base" hangingPunct="0">
        <a:spcBef>
          <a:spcPct val="2000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  <a:ea typeface="+mn-ea"/>
          <a:cs typeface="+mn-cs"/>
        </a:defRPr>
      </a:lvl1pPr>
      <a:lvl2pPr marL="777875" indent="-298450" algn="l" defTabSz="957580" rtl="0" eaLnBrk="0" fontAlgn="base" hangingPunct="0">
        <a:spcBef>
          <a:spcPct val="20000"/>
        </a:spcBef>
        <a:spcAft>
          <a:spcPct val="0"/>
        </a:spcAft>
        <a:buChar char="–"/>
        <a:defRPr sz="2900">
          <a:solidFill>
            <a:schemeClr val="tx1"/>
          </a:solidFill>
          <a:latin typeface="+mn-lt"/>
          <a:ea typeface="+mn-ea"/>
        </a:defRPr>
      </a:lvl2pPr>
      <a:lvl3pPr marL="1196975" indent="-240030" algn="l" defTabSz="957580" rtl="0" eaLnBrk="0" fontAlgn="base" hangingPunct="0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n-lt"/>
          <a:ea typeface="+mn-ea"/>
        </a:defRPr>
      </a:lvl3pPr>
      <a:lvl4pPr marL="1676400" indent="-240030" algn="l" defTabSz="957580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4pPr>
      <a:lvl5pPr marL="2152650" indent="-236855" algn="l" defTabSz="957580" rtl="0" eaLnBrk="0" fontAlgn="base" hangingPunct="0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  <a:ea typeface="+mn-ea"/>
        </a:defRPr>
      </a:lvl5pPr>
      <a:lvl6pPr marL="2609850" indent="-236855" algn="l" defTabSz="957580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  <a:ea typeface="+mn-ea"/>
        </a:defRPr>
      </a:lvl6pPr>
      <a:lvl7pPr marL="3067050" indent="-236855" algn="l" defTabSz="957580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  <a:ea typeface="+mn-ea"/>
        </a:defRPr>
      </a:lvl7pPr>
      <a:lvl8pPr marL="3524250" indent="-236855" algn="l" defTabSz="957580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  <a:ea typeface="+mn-ea"/>
        </a:defRPr>
      </a:lvl8pPr>
      <a:lvl9pPr marL="3981450" indent="-236855" algn="l" defTabSz="957580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3"/>
          <p:cNvSpPr>
            <a:spLocks noChangeShapeType="1"/>
          </p:cNvSpPr>
          <p:nvPr userDrawn="1"/>
        </p:nvSpPr>
        <p:spPr bwMode="auto">
          <a:xfrm>
            <a:off x="1344084" y="836613"/>
            <a:ext cx="10320866" cy="0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Text Box 6"/>
          <p:cNvSpPr txBox="1">
            <a:spLocks noChangeArrowheads="1"/>
          </p:cNvSpPr>
          <p:nvPr userDrawn="1"/>
        </p:nvSpPr>
        <p:spPr bwMode="auto">
          <a:xfrm>
            <a:off x="212495" y="764711"/>
            <a:ext cx="88932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200" b="1" dirty="0">
                <a:solidFill>
                  <a:srgbClr val="000000"/>
                </a:solidFill>
                <a:ea typeface="黑体" panose="02010609060101010101" pitchFamily="2" charset="-122"/>
              </a:rPr>
              <a:t>中国石油</a:t>
            </a:r>
            <a:endParaRPr lang="zh-CN" altLang="en-US" sz="1200" b="1" dirty="0">
              <a:solidFill>
                <a:srgbClr val="000000"/>
              </a:solidFill>
              <a:ea typeface="黑体" panose="02010609060101010101" pitchFamily="2" charset="-122"/>
            </a:endParaRPr>
          </a:p>
        </p:txBody>
      </p:sp>
      <p:pic>
        <p:nvPicPr>
          <p:cNvPr id="9" name="Picture 2" descr="E:\CNPC-VI手册\tmx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31" y="154211"/>
            <a:ext cx="609441" cy="568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84513" y="4941674"/>
            <a:ext cx="2826149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b="1" dirty="0">
                <a:solidFill>
                  <a:srgbClr val="0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XXXX</a:t>
            </a:r>
            <a:r>
              <a:rPr lang="zh-CN" altLang="en-US" sz="2800" b="1" dirty="0">
                <a:solidFill>
                  <a:srgbClr val="0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单位</a:t>
            </a:r>
            <a:endParaRPr lang="en-US" altLang="zh-CN" sz="2800" b="1" dirty="0">
              <a:solidFill>
                <a:srgbClr val="000000"/>
              </a:solidFill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800" b="1" dirty="0">
                <a:solidFill>
                  <a:srgbClr val="0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2022</a:t>
            </a:r>
            <a:r>
              <a:rPr lang="zh-CN" altLang="en-US" sz="2800" b="1" dirty="0">
                <a:solidFill>
                  <a:srgbClr val="0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年</a:t>
            </a:r>
            <a:r>
              <a:rPr lang="en-US" altLang="zh-CN" sz="2800" b="1" dirty="0">
                <a:solidFill>
                  <a:srgbClr val="0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8</a:t>
            </a:r>
            <a:r>
              <a:rPr lang="zh-CN" altLang="en-US" sz="2800" b="1" dirty="0">
                <a:solidFill>
                  <a:srgbClr val="0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rPr>
              <a:t>月</a:t>
            </a:r>
            <a:endParaRPr lang="zh-CN" altLang="en-US" sz="2800" b="1" dirty="0">
              <a:solidFill>
                <a:srgbClr val="000000"/>
              </a:solidFill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9041" y="1628800"/>
            <a:ext cx="9357093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6000" b="1" dirty="0">
                <a:solidFill>
                  <a:srgbClr val="C00000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XXXX</a:t>
            </a:r>
            <a:r>
              <a:rPr lang="zh-CN" altLang="en-US" sz="6000" b="1" dirty="0">
                <a:solidFill>
                  <a:srgbClr val="C00000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公司工作汇报</a:t>
            </a:r>
            <a:endParaRPr lang="en-US" altLang="zh-CN" sz="6000" b="1" dirty="0">
              <a:solidFill>
                <a:srgbClr val="C00000"/>
              </a:solidFill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3887572" y="3372928"/>
            <a:ext cx="5256583" cy="720080"/>
          </a:xfrm>
          <a:prstGeom prst="wedgeRoundRectCallout">
            <a:avLst>
              <a:gd name="adj1" fmla="val -30613"/>
              <a:gd name="adj2" fmla="val -133118"/>
              <a:gd name="adj3" fmla="val 16667"/>
            </a:avLst>
          </a:prstGeom>
          <a:solidFill>
            <a:srgbClr val="92D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标题为方正小标宋简体，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60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号加粗，分散对齐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颜色深红（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RGB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：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192,G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0,B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）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6917198" y="5877272"/>
            <a:ext cx="5256583" cy="908720"/>
          </a:xfrm>
          <a:prstGeom prst="wedgeRoundRectCallout">
            <a:avLst>
              <a:gd name="adj1" fmla="val -49576"/>
              <a:gd name="adj2" fmla="val -66543"/>
              <a:gd name="adj3" fmla="val 16667"/>
            </a:avLst>
          </a:prstGeom>
          <a:solidFill>
            <a:srgbClr val="92D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日期为方正黑体简体，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28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号加粗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颜色黑色（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RGB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：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0,G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0,B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）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行距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1.25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倍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3505200" y="179705"/>
            <a:ext cx="4788535" cy="1017047"/>
          </a:xfrm>
          <a:prstGeom prst="wedgeRoundRectCallout">
            <a:avLst>
              <a:gd name="adj1" fmla="val -49826"/>
              <a:gd name="adj2" fmla="val 18864"/>
              <a:gd name="adj3" fmla="val 16667"/>
            </a:avLst>
          </a:prstGeom>
          <a:solidFill>
            <a:srgbClr val="92D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幻灯片为（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16:9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）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幻灯片大小：宽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33.87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厘米、高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19.05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厘米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  <a:sym typeface="+mn-ea"/>
              </a:rPr>
              <a:t>封面页使用封面母版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761883" y="188640"/>
            <a:ext cx="3240360" cy="941620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16:9</a:t>
            </a:r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模板</a:t>
            </a:r>
            <a:endParaRPr lang="en-US" altLang="zh-CN" sz="2000" b="1" dirty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根据内容可做适当调整</a:t>
            </a:r>
            <a:endParaRPr lang="en-US" altLang="zh-CN" sz="2000" b="1" dirty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制作版本</a:t>
            </a:r>
            <a:r>
              <a:rPr lang="en-US" altLang="zh-CN" sz="20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PowerPoint2010</a:t>
            </a:r>
            <a:endParaRPr lang="zh-CN" altLang="en-US" sz="2000" b="1" dirty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2209155" y="4214102"/>
            <a:ext cx="8301606" cy="1224136"/>
          </a:xfrm>
          <a:prstGeom prst="roundRect">
            <a:avLst/>
          </a:prstGeom>
          <a:solidFill>
            <a:srgbClr val="92D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打印要求（一页打印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张幻灯片按以下要求打印，如果一页打印多张幻灯片可以不删除封皮直接打印讲义）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封皮：选择文件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打印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整页幻灯片（打印板式）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根据纸张大小调整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内容：删除封皮页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选择文件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打印</a:t>
            </a:r>
            <a:r>
              <a:rPr lang="en-US" altLang="zh-CN" dirty="0">
                <a:solidFill>
                  <a:schemeClr val="tx1"/>
                </a:solidFill>
              </a:rPr>
              <a:t>-1</a:t>
            </a:r>
            <a:r>
              <a:rPr lang="zh-CN" altLang="en-US" dirty="0">
                <a:solidFill>
                  <a:schemeClr val="tx1"/>
                </a:solidFill>
              </a:rPr>
              <a:t>张幻灯片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根据纸张大小调整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双面打印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标注 4"/>
          <p:cNvSpPr/>
          <p:nvPr/>
        </p:nvSpPr>
        <p:spPr>
          <a:xfrm>
            <a:off x="697230" y="890270"/>
            <a:ext cx="3899535" cy="648335"/>
          </a:xfrm>
          <a:prstGeom prst="wedgeRoundRectCallout">
            <a:avLst>
              <a:gd name="adj1" fmla="val -41389"/>
              <a:gd name="adj2" fmla="val -119213"/>
              <a:gd name="adj3" fmla="val 16667"/>
            </a:avLst>
          </a:prstGeom>
          <a:solidFill>
            <a:srgbClr val="92D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提纲页使用提纲母版，不加宝石花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4009355" y="4653136"/>
            <a:ext cx="6768752" cy="1224136"/>
          </a:xfrm>
          <a:prstGeom prst="wedgeRoundRectCallout">
            <a:avLst>
              <a:gd name="adj1" fmla="val -37052"/>
              <a:gd name="adj2" fmla="val -86811"/>
              <a:gd name="adj3" fmla="val 16667"/>
            </a:avLst>
          </a:prstGeom>
          <a:solidFill>
            <a:srgbClr val="92D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提纲为方正大黑简体，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34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号，不加粗，分散或两端对齐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行距根据章节数量确定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当前汇报章节使用深红色字体（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RGB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：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192,G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0,B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）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其余章节使用黑色字体（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RGB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：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0,G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0,B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）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330905" y="1930902"/>
            <a:ext cx="5533364" cy="2473834"/>
            <a:chOff x="3982353" y="2090792"/>
            <a:chExt cx="4333523" cy="2612542"/>
          </a:xfrm>
        </p:grpSpPr>
        <p:sp>
          <p:nvSpPr>
            <p:cNvPr id="3" name="Rectangle 1"/>
            <p:cNvSpPr>
              <a:spLocks noChangeArrowheads="1"/>
            </p:cNvSpPr>
            <p:nvPr/>
          </p:nvSpPr>
          <p:spPr bwMode="auto">
            <a:xfrm>
              <a:off x="3982353" y="2119368"/>
              <a:ext cx="1237636" cy="258396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91395" tIns="45696" rIns="91395" bIns="45696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3400" dirty="0" smtClean="0">
                  <a:solidFill>
                    <a:srgbClr val="C00000"/>
                  </a:solidFill>
                  <a:latin typeface="方正大黑简体" panose="02010601030101010101" pitchFamily="2" charset="-122"/>
                  <a:ea typeface="方正大黑简体" panose="02010601030101010101" pitchFamily="2" charset="-122"/>
                </a:rPr>
                <a:t>一、</a:t>
              </a:r>
              <a:endParaRPr lang="en-US" altLang="zh-CN" sz="3400" dirty="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3400" dirty="0" smtClean="0">
                  <a:latin typeface="方正大黑简体" panose="02010601030101010101" pitchFamily="2" charset="-122"/>
                  <a:ea typeface="方正大黑简体" panose="02010601030101010101" pitchFamily="2" charset="-122"/>
                </a:rPr>
                <a:t>二、</a:t>
              </a:r>
              <a:endParaRPr lang="en-US" altLang="zh-CN" sz="3400" dirty="0" smtClean="0">
                <a:latin typeface="方正大黑简体" panose="02010601030101010101" pitchFamily="2" charset="-122"/>
                <a:ea typeface="方正大黑简体" panose="0201060103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3400" dirty="0" smtClean="0">
                  <a:latin typeface="方正大黑简体" panose="02010601030101010101" pitchFamily="2" charset="-122"/>
                  <a:ea typeface="方正大黑简体" panose="02010601030101010101" pitchFamily="2" charset="-122"/>
                </a:rPr>
                <a:t>三、</a:t>
              </a:r>
              <a:endParaRPr lang="en-US" altLang="zh-CN" sz="3400" dirty="0">
                <a:latin typeface="方正大黑简体" panose="02010601030101010101" pitchFamily="2" charset="-122"/>
                <a:ea typeface="方正大黑简体" panose="02010601030101010101" pitchFamily="2" charset="-122"/>
              </a:endParaRPr>
            </a:p>
          </p:txBody>
        </p:sp>
        <p:sp>
          <p:nvSpPr>
            <p:cNvPr id="4" name="Rectangle 1"/>
            <p:cNvSpPr>
              <a:spLocks noChangeArrowheads="1"/>
            </p:cNvSpPr>
            <p:nvPr/>
          </p:nvSpPr>
          <p:spPr bwMode="auto">
            <a:xfrm>
              <a:off x="4689871" y="2090792"/>
              <a:ext cx="3626005" cy="25839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91395" tIns="45696" rIns="91395" bIns="45696" anchor="ctr">
              <a:spAutoFit/>
            </a:bodyPr>
            <a:lstStyle/>
            <a:p>
              <a:pPr algn="dist">
                <a:lnSpc>
                  <a:spcPct val="150000"/>
                </a:lnSpc>
              </a:pPr>
              <a:r>
                <a:rPr lang="en-US" altLang="zh-CN" sz="3400" dirty="0" smtClean="0">
                  <a:solidFill>
                    <a:srgbClr val="C00000"/>
                  </a:solidFill>
                  <a:latin typeface="方正大黑简体" panose="02010601030101010101" pitchFamily="2" charset="-122"/>
                  <a:ea typeface="方正大黑简体" panose="02010601030101010101" pitchFamily="2" charset="-122"/>
                </a:rPr>
                <a:t>2022</a:t>
              </a:r>
              <a:r>
                <a:rPr lang="zh-CN" altLang="en-US" sz="3400" dirty="0" smtClean="0">
                  <a:solidFill>
                    <a:srgbClr val="C00000"/>
                  </a:solidFill>
                  <a:latin typeface="方正大黑简体" panose="02010601030101010101" pitchFamily="2" charset="-122"/>
                  <a:ea typeface="方正大黑简体" panose="02010601030101010101" pitchFamily="2" charset="-122"/>
                </a:rPr>
                <a:t>年发展成果</a:t>
              </a:r>
              <a:endParaRPr lang="zh-CN" altLang="en-US" sz="3400" dirty="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endParaRPr>
            </a:p>
            <a:p>
              <a:pPr algn="dist">
                <a:lnSpc>
                  <a:spcPct val="150000"/>
                </a:lnSpc>
              </a:pPr>
              <a:r>
                <a:rPr lang="en-US" altLang="zh-CN" sz="3400" dirty="0" smtClean="0">
                  <a:latin typeface="方正大黑简体" panose="02010601030101010101" pitchFamily="2" charset="-122"/>
                  <a:ea typeface="方正大黑简体" panose="02010601030101010101" pitchFamily="2" charset="-122"/>
                </a:rPr>
                <a:t>2023</a:t>
              </a:r>
              <a:r>
                <a:rPr lang="zh-CN" altLang="en-US" sz="3400" dirty="0" smtClean="0">
                  <a:latin typeface="方正大黑简体" panose="02010601030101010101" pitchFamily="2" charset="-122"/>
                  <a:ea typeface="方正大黑简体" panose="02010601030101010101" pitchFamily="2" charset="-122"/>
                </a:rPr>
                <a:t>年工作安排</a:t>
              </a:r>
              <a:endParaRPr lang="zh-CN" altLang="en-US" sz="3400" dirty="0">
                <a:latin typeface="方正大黑简体" panose="02010601030101010101" pitchFamily="2" charset="-122"/>
                <a:ea typeface="方正大黑简体" panose="02010601030101010101" pitchFamily="2" charset="-122"/>
              </a:endParaRPr>
            </a:p>
            <a:p>
              <a:pPr algn="dist">
                <a:lnSpc>
                  <a:spcPct val="150000"/>
                </a:lnSpc>
              </a:pPr>
              <a:r>
                <a:rPr lang="zh-CN" altLang="en-US" sz="3400" dirty="0" smtClean="0">
                  <a:latin typeface="方正大黑简体" panose="02010601030101010101" pitchFamily="2" charset="-122"/>
                  <a:ea typeface="方正大黑简体" panose="02010601030101010101" pitchFamily="2" charset="-122"/>
                </a:rPr>
                <a:t>问题及工作建议</a:t>
              </a:r>
              <a:endParaRPr lang="en-US" altLang="zh-CN" sz="3400" dirty="0">
                <a:latin typeface="方正大黑简体" panose="02010601030101010101" pitchFamily="2" charset="-122"/>
                <a:ea typeface="方正大黑简体" panose="02010601030101010101" pitchFamily="2" charset="-122"/>
              </a:endParaRPr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854121" y="1959071"/>
            <a:ext cx="10486932" cy="3124200"/>
          </a:xfrm>
          <a:prstGeom prst="rect">
            <a:avLst/>
          </a:prstGeom>
          <a:noFill/>
          <a:ln w="12700">
            <a:noFill/>
            <a:prstDash val="dash"/>
            <a:miter lim="800000"/>
          </a:ln>
        </p:spPr>
        <p:txBody>
          <a:bodyPr wrap="square" lIns="108842" tIns="54420" rIns="108842" bIns="5442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buClr>
                <a:srgbClr val="C00000"/>
              </a:buClr>
              <a:defRPr sz="3000">
                <a:solidFill>
                  <a:srgbClr val="000066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</a:lstStyle>
          <a:p>
            <a:pPr>
              <a:lnSpc>
                <a:spcPct val="175000"/>
              </a:lnSpc>
            </a:pPr>
            <a:r>
              <a:rPr lang="zh-CN" altLang="en-US" sz="2800" dirty="0"/>
              <a:t>　　</a:t>
            </a:r>
            <a:r>
              <a:rPr lang="en-US" altLang="zh-CN" sz="2800" dirty="0"/>
              <a:t>2018</a:t>
            </a:r>
            <a:r>
              <a:rPr lang="zh-CN" altLang="en-US" sz="2800" dirty="0"/>
              <a:t>年以来，深入贯彻习近平总书记重要指示批示精神，紧紧围绕“七年油气加快发展规划”，聚焦油气主营业务，统筹推进改革发展稳定各项工作，全面建成了</a:t>
            </a:r>
            <a:r>
              <a:rPr lang="en-US" altLang="zh-CN" sz="2800" dirty="0"/>
              <a:t>3000</a:t>
            </a:r>
            <a:r>
              <a:rPr lang="zh-CN" altLang="en-US" sz="2800" dirty="0"/>
              <a:t>万吨大油气田，形成了加快发展的良好局面。</a:t>
            </a:r>
            <a:endParaRPr lang="zh-CN" altLang="en-US" sz="2800" dirty="0"/>
          </a:p>
        </p:txBody>
      </p:sp>
      <p:sp>
        <p:nvSpPr>
          <p:cNvPr id="3" name="圆角矩形标注 2"/>
          <p:cNvSpPr/>
          <p:nvPr/>
        </p:nvSpPr>
        <p:spPr>
          <a:xfrm>
            <a:off x="5233491" y="5373216"/>
            <a:ext cx="5328592" cy="1224136"/>
          </a:xfrm>
          <a:prstGeom prst="wedgeRoundRectCallout">
            <a:avLst>
              <a:gd name="adj1" fmla="val -37052"/>
              <a:gd name="adj2" fmla="val -86811"/>
              <a:gd name="adj3" fmla="val 16667"/>
            </a:avLst>
          </a:prstGeom>
          <a:solidFill>
            <a:srgbClr val="92D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序言为方正大黑简体，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28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号，不加粗，两端对齐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颜色深蓝（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RGB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：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0,G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0,B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102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）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行距根据行数确定，一般介于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1.5~2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倍之间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加句号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7890311" y="405141"/>
            <a:ext cx="3885018" cy="476885"/>
          </a:xfrm>
          <a:prstGeom prst="rect">
            <a:avLst/>
          </a:prstGeom>
        </p:spPr>
        <p:txBody>
          <a:bodyPr wrap="square" lIns="108864" tIns="54431" rIns="108864" bIns="54431">
            <a:spAutoFit/>
          </a:bodyPr>
          <a:lstStyle>
            <a:defPPr>
              <a:defRPr lang="zh-CN"/>
            </a:defPPr>
            <a:lvl1pPr algn="r">
              <a:defRPr kumimoji="1" sz="260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</a:lstStyle>
          <a:p>
            <a:r>
              <a:rPr lang="en-US" altLang="zh-CN" sz="2400" dirty="0"/>
              <a:t>1. </a:t>
            </a:r>
            <a:r>
              <a:rPr lang="zh-CN" altLang="en-US" sz="2400" dirty="0"/>
              <a:t>油气开发</a:t>
            </a:r>
            <a:endParaRPr lang="zh-CN" altLang="en-US" sz="2400" dirty="0"/>
          </a:p>
        </p:txBody>
      </p:sp>
      <p:sp>
        <p:nvSpPr>
          <p:cNvPr id="37" name="矩形 36"/>
          <p:cNvSpPr/>
          <p:nvPr/>
        </p:nvSpPr>
        <p:spPr>
          <a:xfrm>
            <a:off x="1044000" y="324000"/>
            <a:ext cx="4325413" cy="508000"/>
          </a:xfrm>
          <a:prstGeom prst="rect">
            <a:avLst/>
          </a:prstGeom>
        </p:spPr>
        <p:txBody>
          <a:bodyPr wrap="square" lIns="108864" tIns="54431" rIns="108864" bIns="54431">
            <a:spAutoFit/>
          </a:bodyPr>
          <a:lstStyle/>
          <a:p>
            <a:r>
              <a:rPr kumimoji="1" lang="zh-CN" altLang="en-US" sz="2600" dirty="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（一）主营业务加快发展</a:t>
            </a:r>
            <a:endParaRPr kumimoji="1" lang="zh-CN" altLang="en-US" sz="2600" dirty="0">
              <a:solidFill>
                <a:srgbClr val="C00000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33" name="Text Box 2"/>
          <p:cNvSpPr txBox="1">
            <a:spLocks noChangeArrowheads="1"/>
          </p:cNvSpPr>
          <p:nvPr/>
        </p:nvSpPr>
        <p:spPr bwMode="auto">
          <a:xfrm>
            <a:off x="481565" y="1103921"/>
            <a:ext cx="11164309" cy="1141095"/>
          </a:xfrm>
          <a:prstGeom prst="rect">
            <a:avLst/>
          </a:prstGeom>
          <a:noFill/>
          <a:ln w="12700">
            <a:noFill/>
            <a:prstDash val="dash"/>
            <a:miter lim="800000"/>
          </a:ln>
        </p:spPr>
        <p:txBody>
          <a:bodyPr wrap="square" lIns="108842" tIns="54420" rIns="108842" bIns="54420">
            <a:spAutoFit/>
          </a:bodyPr>
          <a:lstStyle>
            <a:defPPr>
              <a:defRPr lang="zh-CN"/>
            </a:defPPr>
            <a:lvl1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defRPr sz="2600">
                <a:solidFill>
                  <a:srgbClr val="000066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</a:lstStyle>
          <a:p>
            <a:pPr indent="612140" algn="just">
              <a:lnSpc>
                <a:spcPct val="140000"/>
              </a:lnSpc>
            </a:pPr>
            <a:r>
              <a:rPr lang="zh-CN" altLang="en-US" sz="2400" dirty="0"/>
              <a:t>推进富油气区带集中规模建产，三年新建产能原油</a:t>
            </a:r>
            <a:r>
              <a:rPr lang="en-US" altLang="zh-CN" sz="2400" dirty="0">
                <a:solidFill>
                  <a:srgbClr val="C00000"/>
                </a:solidFill>
              </a:rPr>
              <a:t>XX</a:t>
            </a:r>
            <a:r>
              <a:rPr lang="zh-CN" altLang="en-US" sz="2400" dirty="0"/>
              <a:t>万吨、天然气</a:t>
            </a:r>
            <a:r>
              <a:rPr lang="en-US" altLang="zh-CN" sz="2400" dirty="0">
                <a:solidFill>
                  <a:srgbClr val="C00000"/>
                </a:solidFill>
              </a:rPr>
              <a:t>XX</a:t>
            </a:r>
            <a:r>
              <a:rPr lang="zh-CN" altLang="en-US" sz="2400" dirty="0"/>
              <a:t>亿方，相当于新建一座</a:t>
            </a:r>
            <a:r>
              <a:rPr lang="en-US" altLang="zh-CN" sz="2400" dirty="0">
                <a:solidFill>
                  <a:srgbClr val="C00000"/>
                </a:solidFill>
              </a:rPr>
              <a:t>XX</a:t>
            </a:r>
            <a:r>
              <a:rPr lang="zh-CN" altLang="en-US" sz="2400" dirty="0"/>
              <a:t>万吨级的油气田</a:t>
            </a:r>
            <a:endParaRPr lang="zh-CN" altLang="en-US" sz="2400" dirty="0"/>
          </a:p>
        </p:txBody>
      </p:sp>
      <p:sp>
        <p:nvSpPr>
          <p:cNvPr id="39" name="TextBox 38"/>
          <p:cNvSpPr txBox="1"/>
          <p:nvPr/>
        </p:nvSpPr>
        <p:spPr>
          <a:xfrm>
            <a:off x="1777610" y="2636913"/>
            <a:ext cx="290449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2016~2020</a:t>
            </a:r>
            <a:r>
              <a:rPr lang="zh-CN" altLang="en-US" sz="14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年新建油气产能柱状图</a:t>
            </a:r>
            <a:endParaRPr lang="zh-CN" altLang="en-US" sz="1400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40" name="文本框 3"/>
          <p:cNvSpPr txBox="1"/>
          <p:nvPr/>
        </p:nvSpPr>
        <p:spPr>
          <a:xfrm>
            <a:off x="7179661" y="2617168"/>
            <a:ext cx="397129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40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en-US" altLang="zh-CN" dirty="0"/>
              <a:t>2016~2020</a:t>
            </a:r>
            <a:r>
              <a:rPr lang="zh-CN" altLang="en-US" dirty="0"/>
              <a:t>年开发井成功率及高效井比例柱状图</a:t>
            </a:r>
            <a:endParaRPr lang="zh-CN" altLang="en-US" dirty="0"/>
          </a:p>
        </p:txBody>
      </p:sp>
      <p:sp>
        <p:nvSpPr>
          <p:cNvPr id="42" name="圆角矩形标注 41"/>
          <p:cNvSpPr/>
          <p:nvPr/>
        </p:nvSpPr>
        <p:spPr>
          <a:xfrm>
            <a:off x="5017467" y="57396"/>
            <a:ext cx="4680520" cy="827001"/>
          </a:xfrm>
          <a:prstGeom prst="wedgeRoundRectCallout">
            <a:avLst>
              <a:gd name="adj1" fmla="val -57058"/>
              <a:gd name="adj2" fmla="val 23352"/>
              <a:gd name="adj3" fmla="val 16667"/>
            </a:avLst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一级标题方正大黑简体，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25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号，不加粗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二级标题方正大黑简体，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24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号，不加粗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颜色深红（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RGB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：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192,G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0,B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）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44" name="圆角矩形标注 43"/>
          <p:cNvSpPr/>
          <p:nvPr/>
        </p:nvSpPr>
        <p:spPr>
          <a:xfrm>
            <a:off x="4945458" y="57395"/>
            <a:ext cx="4887361" cy="1427389"/>
          </a:xfrm>
          <a:prstGeom prst="wedgeRoundRectCallout">
            <a:avLst>
              <a:gd name="adj1" fmla="val 57406"/>
              <a:gd name="adj2" fmla="val -11955"/>
              <a:gd name="adj3" fmla="val 16667"/>
            </a:avLst>
          </a:prstGeom>
          <a:solidFill>
            <a:srgbClr val="92D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7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一级标题方正大黑简体</a:t>
            </a:r>
            <a:r>
              <a:rPr lang="zh-CN" altLang="en-US" sz="1700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，</a:t>
            </a:r>
            <a:r>
              <a:rPr lang="en-US" altLang="zh-CN" sz="1700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25</a:t>
            </a:r>
            <a:r>
              <a:rPr lang="zh-CN" altLang="en-US" sz="1700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或者</a:t>
            </a:r>
            <a:r>
              <a:rPr lang="en-US" altLang="zh-CN" sz="1700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26</a:t>
            </a:r>
            <a:r>
              <a:rPr lang="zh-CN" altLang="en-US" sz="17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号，不加粗</a:t>
            </a:r>
            <a:endParaRPr lang="en-US" altLang="zh-CN" sz="1700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sz="17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二级标题方正大黑简体</a:t>
            </a:r>
            <a:r>
              <a:rPr lang="zh-CN" altLang="en-US" sz="1700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，</a:t>
            </a:r>
            <a:r>
              <a:rPr lang="en-US" altLang="zh-CN" sz="1700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24</a:t>
            </a:r>
            <a:r>
              <a:rPr lang="zh-CN" altLang="en-US" sz="17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号，不加粗</a:t>
            </a:r>
            <a:endParaRPr lang="en-US" altLang="zh-CN" sz="1700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sz="17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二级标题位于右侧，高度略低于一级标题</a:t>
            </a:r>
            <a:endParaRPr lang="en-US" altLang="zh-CN" sz="1700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sz="17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颜色深红（</a:t>
            </a:r>
            <a:r>
              <a:rPr lang="en-US" altLang="zh-CN" sz="17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RGB</a:t>
            </a:r>
            <a:r>
              <a:rPr lang="zh-CN" altLang="en-US" sz="17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：</a:t>
            </a:r>
            <a:r>
              <a:rPr lang="en-US" altLang="zh-CN" sz="17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</a:t>
            </a:r>
            <a:r>
              <a:rPr lang="zh-CN" altLang="en-US" sz="17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sz="17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192,G</a:t>
            </a:r>
            <a:r>
              <a:rPr lang="zh-CN" altLang="en-US" sz="17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sz="17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0,B</a:t>
            </a:r>
            <a:r>
              <a:rPr lang="zh-CN" altLang="en-US" sz="17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sz="17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</a:t>
            </a:r>
            <a:r>
              <a:rPr lang="zh-CN" altLang="en-US" sz="17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）</a:t>
            </a:r>
            <a:endParaRPr lang="en-US" altLang="zh-CN" sz="1700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sz="17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标题内容不宜超过红线，不宜离红线过远</a:t>
            </a:r>
            <a:endParaRPr lang="zh-CN" altLang="en-US" sz="1700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2971" y="2996952"/>
            <a:ext cx="5328592" cy="30963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图表（省略）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6421924" y="2996952"/>
            <a:ext cx="5328592" cy="30963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图表（省略）</a:t>
            </a:r>
            <a:endParaRPr lang="zh-CN" altLang="en-US" dirty="0"/>
          </a:p>
        </p:txBody>
      </p:sp>
      <p:sp>
        <p:nvSpPr>
          <p:cNvPr id="46" name="圆角矩形标注 45"/>
          <p:cNvSpPr/>
          <p:nvPr/>
        </p:nvSpPr>
        <p:spPr>
          <a:xfrm>
            <a:off x="470703" y="3645024"/>
            <a:ext cx="5472006" cy="1368152"/>
          </a:xfrm>
          <a:prstGeom prst="wedgeRoundRectCallout">
            <a:avLst>
              <a:gd name="adj1" fmla="val -12713"/>
              <a:gd name="adj2" fmla="val -107940"/>
              <a:gd name="adj3" fmla="val 16667"/>
            </a:avLst>
          </a:prstGeom>
          <a:solidFill>
            <a:srgbClr val="92D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图表名称方正大黑简体，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16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号，不加粗，黑色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图表内文字使用方正黑体或者方正大黑简体，黑色。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字体大小灵活调整，以清楚、大方为准，不宜过大导致冲淡正文文字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45" name="圆角矩形标注 44"/>
          <p:cNvSpPr/>
          <p:nvPr/>
        </p:nvSpPr>
        <p:spPr>
          <a:xfrm>
            <a:off x="4945458" y="2230188"/>
            <a:ext cx="5711610" cy="1270820"/>
          </a:xfrm>
          <a:prstGeom prst="wedgeRoundRectCallout">
            <a:avLst>
              <a:gd name="adj1" fmla="val -44746"/>
              <a:gd name="adj2" fmla="val -68988"/>
              <a:gd name="adj3" fmla="val 16667"/>
            </a:avLst>
          </a:prstGeom>
          <a:solidFill>
            <a:srgbClr val="92D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正文为方正大黑简体，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22~24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号，不加粗，两端对齐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颜色深蓝（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RGB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：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0,G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0,B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102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）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行距根据行数确定，一般介于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1.25~1.5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之间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重点内容使用深红色字体，不加句号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36947" y="1052736"/>
            <a:ext cx="11449272" cy="1104265"/>
          </a:xfrm>
          <a:prstGeom prst="rect">
            <a:avLst/>
          </a:prstGeom>
          <a:noFill/>
          <a:ln w="12700">
            <a:noFill/>
            <a:prstDash val="dash"/>
            <a:miter lim="800000"/>
          </a:ln>
        </p:spPr>
        <p:txBody>
          <a:bodyPr wrap="square" lIns="108842" tIns="54420" rIns="108842" bIns="54420">
            <a:spAutoFit/>
          </a:bodyPr>
          <a:lstStyle>
            <a:defPPr>
              <a:defRPr lang="zh-CN"/>
            </a:defPPr>
            <a:lvl1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defRPr sz="2600">
                <a:solidFill>
                  <a:srgbClr val="000066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</a:lstStyle>
          <a:p>
            <a:pPr indent="612140" algn="just">
              <a:lnSpc>
                <a:spcPct val="135000"/>
              </a:lnSpc>
            </a:pPr>
            <a:r>
              <a:rPr lang="zh-CN" altLang="en-US" sz="2400" dirty="0"/>
              <a:t>开展老油气田综合治理，三年恢复产能原油</a:t>
            </a:r>
            <a:r>
              <a:rPr lang="en-US" altLang="zh-CN" sz="2400" dirty="0">
                <a:solidFill>
                  <a:srgbClr val="C00000"/>
                </a:solidFill>
              </a:rPr>
              <a:t>XX</a:t>
            </a:r>
            <a:r>
              <a:rPr lang="zh-CN" altLang="en-US" sz="2400" dirty="0"/>
              <a:t>万吨、天然气</a:t>
            </a:r>
            <a:r>
              <a:rPr lang="en-US" altLang="zh-CN" sz="2400" dirty="0">
                <a:solidFill>
                  <a:srgbClr val="C00000"/>
                </a:solidFill>
              </a:rPr>
              <a:t>XX</a:t>
            </a:r>
            <a:r>
              <a:rPr lang="zh-CN" altLang="en-US" sz="2400" dirty="0"/>
              <a:t>亿方，原油综合递减由</a:t>
            </a:r>
            <a:r>
              <a:rPr lang="en-US" altLang="zh-CN" sz="2400" dirty="0">
                <a:solidFill>
                  <a:srgbClr val="C00000"/>
                </a:solidFill>
              </a:rPr>
              <a:t>XX</a:t>
            </a:r>
            <a:r>
              <a:rPr lang="zh-CN" altLang="en-US" sz="2400" dirty="0"/>
              <a:t>降至</a:t>
            </a:r>
            <a:r>
              <a:rPr lang="en-US" altLang="zh-CN" sz="2400" dirty="0">
                <a:solidFill>
                  <a:srgbClr val="C00000"/>
                </a:solidFill>
              </a:rPr>
              <a:t>XX</a:t>
            </a:r>
            <a:r>
              <a:rPr lang="zh-CN" altLang="en-US" sz="2400" dirty="0"/>
              <a:t>，气区负荷因子由</a:t>
            </a:r>
            <a:r>
              <a:rPr lang="en-US" altLang="zh-CN" sz="2400" dirty="0">
                <a:solidFill>
                  <a:srgbClr val="C00000"/>
                </a:solidFill>
              </a:rPr>
              <a:t>XX</a:t>
            </a:r>
            <a:r>
              <a:rPr lang="zh-CN" altLang="en-US" sz="2400" dirty="0"/>
              <a:t>降至</a:t>
            </a:r>
            <a:r>
              <a:rPr lang="en-US" altLang="zh-CN" sz="2400" dirty="0">
                <a:solidFill>
                  <a:srgbClr val="C00000"/>
                </a:solidFill>
              </a:rPr>
              <a:t>XX</a:t>
            </a:r>
            <a:r>
              <a:rPr lang="zh-CN" altLang="en-US" sz="2400" dirty="0"/>
              <a:t>，老区重回合理开发秩序</a:t>
            </a:r>
            <a:endParaRPr lang="zh-CN" altLang="en-US" sz="2400" dirty="0"/>
          </a:p>
        </p:txBody>
      </p:sp>
      <p:sp>
        <p:nvSpPr>
          <p:cNvPr id="6" name="文本框 4"/>
          <p:cNvSpPr txBox="1"/>
          <p:nvPr/>
        </p:nvSpPr>
        <p:spPr>
          <a:xfrm>
            <a:off x="552971" y="2492896"/>
            <a:ext cx="532859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rgbClr val="0000F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b="0" dirty="0">
                <a:solidFill>
                  <a:schemeClr val="tx1"/>
                </a:solidFill>
              </a:rPr>
              <a:t>油田</a:t>
            </a:r>
            <a:r>
              <a:rPr lang="en-US" altLang="zh-CN" b="0" dirty="0">
                <a:solidFill>
                  <a:schemeClr val="tx1"/>
                </a:solidFill>
              </a:rPr>
              <a:t>2017~2020</a:t>
            </a:r>
            <a:r>
              <a:rPr lang="zh-CN" altLang="en-US" b="0" dirty="0">
                <a:solidFill>
                  <a:schemeClr val="tx1"/>
                </a:solidFill>
              </a:rPr>
              <a:t>年递减率折线图</a:t>
            </a:r>
            <a:endParaRPr lang="zh-CN" altLang="en-US" b="0" dirty="0">
              <a:solidFill>
                <a:schemeClr val="tx1"/>
              </a:solidFill>
            </a:endParaRPr>
          </a:p>
        </p:txBody>
      </p:sp>
      <p:sp>
        <p:nvSpPr>
          <p:cNvPr id="8" name="文本框 5"/>
          <p:cNvSpPr txBox="1"/>
          <p:nvPr/>
        </p:nvSpPr>
        <p:spPr>
          <a:xfrm>
            <a:off x="6241607" y="2492896"/>
            <a:ext cx="547260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 b="1">
                <a:solidFill>
                  <a:srgbClr val="0000F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b="0" dirty="0">
                <a:solidFill>
                  <a:schemeClr val="tx1"/>
                </a:solidFill>
              </a:rPr>
              <a:t>气田</a:t>
            </a:r>
            <a:r>
              <a:rPr lang="en-US" altLang="zh-CN" b="0" dirty="0">
                <a:solidFill>
                  <a:schemeClr val="tx1"/>
                </a:solidFill>
              </a:rPr>
              <a:t>2017~2020</a:t>
            </a:r>
            <a:r>
              <a:rPr lang="zh-CN" altLang="en-US" b="0" dirty="0">
                <a:solidFill>
                  <a:schemeClr val="tx1"/>
                </a:solidFill>
              </a:rPr>
              <a:t>年产气量与负荷因子图</a:t>
            </a:r>
            <a:endParaRPr lang="zh-CN" altLang="en-US" b="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47173" y="405141"/>
            <a:ext cx="3744416" cy="476885"/>
          </a:xfrm>
          <a:prstGeom prst="rect">
            <a:avLst/>
          </a:prstGeom>
        </p:spPr>
        <p:txBody>
          <a:bodyPr wrap="square" lIns="108864" tIns="54431" rIns="108864" bIns="54431">
            <a:spAutoFit/>
          </a:bodyPr>
          <a:lstStyle>
            <a:defPPr>
              <a:defRPr lang="zh-CN"/>
            </a:defPPr>
            <a:lvl1pPr algn="r">
              <a:defRPr kumimoji="1" sz="260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</a:lstStyle>
          <a:p>
            <a:pPr algn="l"/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</a:rPr>
              <a:t>1. 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</a:rPr>
              <a:t>油气开发</a:t>
            </a:r>
            <a:endParaRPr lang="zh-CN" alt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圆角矩形标注 9"/>
          <p:cNvSpPr/>
          <p:nvPr/>
        </p:nvSpPr>
        <p:spPr>
          <a:xfrm>
            <a:off x="3649315" y="188640"/>
            <a:ext cx="6661190" cy="864096"/>
          </a:xfrm>
          <a:prstGeom prst="wedgeRoundRectCallout">
            <a:avLst>
              <a:gd name="adj1" fmla="val -61925"/>
              <a:gd name="adj2" fmla="val 5045"/>
              <a:gd name="adj3" fmla="val 16667"/>
            </a:avLst>
          </a:prstGeom>
          <a:solidFill>
            <a:srgbClr val="92D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重复出现的</a:t>
            </a:r>
            <a:r>
              <a:rPr lang="zh-CN" altLang="en-US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标题文字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前建议加一个空格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（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RGB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：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</a:t>
            </a:r>
            <a:r>
              <a:rPr lang="zh-CN" altLang="en-US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127,G</a:t>
            </a:r>
            <a:r>
              <a:rPr lang="zh-CN" altLang="en-US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127,B</a:t>
            </a:r>
            <a:r>
              <a:rPr lang="zh-CN" altLang="en-US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127</a:t>
            </a:r>
            <a:r>
              <a:rPr lang="zh-CN" altLang="en-US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）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单独出现的标题一律左对齐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52971" y="3016206"/>
            <a:ext cx="5328592" cy="30963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图表（省略）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313615" y="3016206"/>
            <a:ext cx="5328592" cy="30963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图表（省略）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Box 2"/>
          <p:cNvSpPr txBox="1">
            <a:spLocks noChangeArrowheads="1"/>
          </p:cNvSpPr>
          <p:nvPr/>
        </p:nvSpPr>
        <p:spPr bwMode="auto">
          <a:xfrm>
            <a:off x="364251" y="1067337"/>
            <a:ext cx="11446290" cy="1031240"/>
          </a:xfrm>
          <a:prstGeom prst="rect">
            <a:avLst/>
          </a:prstGeom>
          <a:noFill/>
          <a:ln w="12700">
            <a:noFill/>
            <a:prstDash val="dash"/>
            <a:miter lim="800000"/>
          </a:ln>
        </p:spPr>
        <p:txBody>
          <a:bodyPr wrap="square" lIns="108813" tIns="54405" rIns="108813" bIns="54405">
            <a:spAutoFit/>
          </a:bodyPr>
          <a:lstStyle>
            <a:defPPr>
              <a:defRPr lang="zh-CN"/>
            </a:defPPr>
            <a:lvl1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defRPr sz="2600">
                <a:solidFill>
                  <a:srgbClr val="000066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</a:lstStyle>
          <a:p>
            <a:pPr algn="just">
              <a:lnSpc>
                <a:spcPct val="125000"/>
              </a:lnSpc>
            </a:pPr>
            <a:r>
              <a:rPr lang="zh-CN" altLang="en-US" sz="2400" spc="-60" dirty="0"/>
              <a:t>　　有利面积</a:t>
            </a:r>
            <a:r>
              <a:rPr lang="en-US" altLang="zh-CN" sz="2400" spc="-60" dirty="0">
                <a:solidFill>
                  <a:srgbClr val="C00000"/>
                </a:solidFill>
              </a:rPr>
              <a:t>XX</a:t>
            </a:r>
            <a:r>
              <a:rPr lang="zh-CN" altLang="en-US" sz="2400" spc="-60" dirty="0"/>
              <a:t>万平方千米，发育主干断裂</a:t>
            </a:r>
            <a:r>
              <a:rPr lang="en-US" altLang="zh-CN" sz="2400" spc="-60" dirty="0">
                <a:solidFill>
                  <a:srgbClr val="C00000"/>
                </a:solidFill>
              </a:rPr>
              <a:t>XX</a:t>
            </a:r>
            <a:r>
              <a:rPr lang="zh-CN" altLang="en-US" sz="2400" spc="-60" dirty="0"/>
              <a:t>条，断裂长</a:t>
            </a:r>
            <a:r>
              <a:rPr lang="en-US" altLang="zh-CN" sz="2400" spc="-60" dirty="0">
                <a:solidFill>
                  <a:srgbClr val="C00000"/>
                </a:solidFill>
              </a:rPr>
              <a:t>XX</a:t>
            </a:r>
            <a:r>
              <a:rPr lang="zh-CN" altLang="en-US" sz="2400" spc="-60" dirty="0"/>
              <a:t>千米，石油资源量</a:t>
            </a:r>
            <a:r>
              <a:rPr lang="en-US" altLang="zh-CN" sz="2400" spc="-60" dirty="0">
                <a:solidFill>
                  <a:srgbClr val="C00000"/>
                </a:solidFill>
              </a:rPr>
              <a:t>XX</a:t>
            </a:r>
            <a:r>
              <a:rPr lang="zh-CN" altLang="en-US" sz="2400" spc="-60" dirty="0"/>
              <a:t>亿吨。三年发现和落实控藏断裂</a:t>
            </a:r>
            <a:r>
              <a:rPr lang="en-US" altLang="zh-CN" sz="2400" spc="-60" dirty="0">
                <a:solidFill>
                  <a:srgbClr val="C00000"/>
                </a:solidFill>
              </a:rPr>
              <a:t>XX</a:t>
            </a:r>
            <a:r>
              <a:rPr lang="zh-CN" altLang="en-US" sz="2400" spc="-60" dirty="0"/>
              <a:t>条，</a:t>
            </a:r>
            <a:r>
              <a:rPr lang="en-US" altLang="zh-CN" sz="2400" spc="-60" dirty="0">
                <a:solidFill>
                  <a:srgbClr val="C00000"/>
                </a:solidFill>
              </a:rPr>
              <a:t>XX</a:t>
            </a:r>
            <a:r>
              <a:rPr lang="zh-CN" altLang="en-US" sz="2400" spc="-60" dirty="0"/>
              <a:t>口探评井获高产</a:t>
            </a:r>
            <a:endParaRPr lang="en-US" altLang="zh-CN" sz="2400" spc="-60" dirty="0"/>
          </a:p>
        </p:txBody>
      </p:sp>
      <p:sp>
        <p:nvSpPr>
          <p:cNvPr id="146" name="TextBox 5"/>
          <p:cNvSpPr txBox="1"/>
          <p:nvPr/>
        </p:nvSpPr>
        <p:spPr>
          <a:xfrm>
            <a:off x="6458943" y="2276839"/>
            <a:ext cx="5037936" cy="3371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富满油田奥陶系碳酸盐岩勘探开发成果图</a:t>
            </a:r>
            <a:endParaRPr lang="zh-CN" altLang="en-US" sz="1600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43" name="文本框 7"/>
          <p:cNvSpPr txBox="1"/>
          <p:nvPr/>
        </p:nvSpPr>
        <p:spPr>
          <a:xfrm>
            <a:off x="884988" y="2298911"/>
            <a:ext cx="453778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rgbClr val="0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塔北</a:t>
            </a:r>
            <a:r>
              <a:rPr lang="en-US" altLang="zh-CN" dirty="0"/>
              <a:t>-</a:t>
            </a:r>
            <a:r>
              <a:rPr lang="zh-CN" altLang="en-US" dirty="0"/>
              <a:t>塔中奥陶系碳酸盐岩勘探成果图</a:t>
            </a:r>
            <a:endParaRPr lang="zh-CN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1218296" y="414074"/>
            <a:ext cx="6679492" cy="476885"/>
          </a:xfrm>
          <a:prstGeom prst="rect">
            <a:avLst/>
          </a:prstGeom>
        </p:spPr>
        <p:txBody>
          <a:bodyPr wrap="square" lIns="108864" tIns="54431" rIns="108864" bIns="54431"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400" dirty="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富满油田</a:t>
            </a:r>
            <a:endParaRPr kumimoji="1" lang="zh-CN" altLang="en-US" sz="2400" dirty="0">
              <a:solidFill>
                <a:srgbClr val="C00000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51" name="圆角矩形标注 50"/>
          <p:cNvSpPr/>
          <p:nvPr/>
        </p:nvSpPr>
        <p:spPr>
          <a:xfrm>
            <a:off x="3828885" y="6261"/>
            <a:ext cx="7065077" cy="1046525"/>
          </a:xfrm>
          <a:prstGeom prst="wedgeRoundRectCallout">
            <a:avLst>
              <a:gd name="adj1" fmla="val -61666"/>
              <a:gd name="adj2" fmla="val 13991"/>
              <a:gd name="adj3" fmla="val 16667"/>
            </a:avLst>
          </a:prstGeom>
          <a:solidFill>
            <a:srgbClr val="92D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三级标题方正大黑简体，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24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号，不加粗左对齐</a:t>
            </a:r>
            <a:endParaRPr lang="en-US" altLang="zh-CN" sz="1600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三级标题高度与二级标题一致，使用带填充效果的大圆形项目符号或（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）</a:t>
            </a:r>
            <a:endParaRPr lang="en-US" altLang="zh-CN" sz="1600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标题不宜超过三级，否则会出现层次过多的情况</a:t>
            </a:r>
            <a:endParaRPr lang="en-US" altLang="zh-CN" sz="1600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颜色深红（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RGB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：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192,G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0,B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）</a:t>
            </a:r>
            <a:endParaRPr lang="zh-CN" altLang="en-US" sz="1600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89582" y="3016206"/>
            <a:ext cx="5328592" cy="30963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图表（省略）</a:t>
            </a:r>
            <a:endParaRPr lang="zh-CN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6313615" y="3016206"/>
            <a:ext cx="5328592" cy="309634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图表（省略）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1044000" y="324000"/>
            <a:ext cx="4325413" cy="508000"/>
          </a:xfrm>
          <a:prstGeom prst="rect">
            <a:avLst/>
          </a:prstGeom>
        </p:spPr>
        <p:txBody>
          <a:bodyPr wrap="square" lIns="108864" tIns="54431" rIns="108864" bIns="54431">
            <a:spAutoFit/>
          </a:bodyPr>
          <a:lstStyle/>
          <a:p>
            <a:r>
              <a:rPr kumimoji="1" lang="zh-CN" altLang="en-US" sz="2600" dirty="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（二）关键技术配套完善</a:t>
            </a:r>
            <a:endParaRPr kumimoji="1" lang="zh-CN" altLang="en-US" sz="2600" dirty="0">
              <a:solidFill>
                <a:srgbClr val="C00000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890311" y="405141"/>
            <a:ext cx="3885018" cy="476885"/>
          </a:xfrm>
          <a:prstGeom prst="rect">
            <a:avLst/>
          </a:prstGeom>
        </p:spPr>
        <p:txBody>
          <a:bodyPr wrap="square" lIns="108864" tIns="54431" rIns="108864" bIns="54431">
            <a:spAutoFit/>
          </a:bodyPr>
          <a:lstStyle>
            <a:defPPr>
              <a:defRPr lang="zh-CN"/>
            </a:defPPr>
            <a:lvl1pPr algn="r">
              <a:defRPr kumimoji="1" sz="260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</a:lstStyle>
          <a:p>
            <a:r>
              <a:rPr lang="en-US" altLang="zh-CN" sz="2400" dirty="0"/>
              <a:t>1. </a:t>
            </a:r>
            <a:r>
              <a:rPr lang="zh-CN" altLang="en-US" sz="2400" dirty="0"/>
              <a:t>钻井提速</a:t>
            </a:r>
            <a:endParaRPr lang="zh-CN" altLang="en-US" sz="2400" dirty="0"/>
          </a:p>
        </p:txBody>
      </p:sp>
      <p:sp>
        <p:nvSpPr>
          <p:cNvPr id="25" name="矩形 24"/>
          <p:cNvSpPr/>
          <p:nvPr/>
        </p:nvSpPr>
        <p:spPr>
          <a:xfrm>
            <a:off x="336947" y="1124744"/>
            <a:ext cx="11593288" cy="587375"/>
          </a:xfrm>
          <a:prstGeom prst="rect">
            <a:avLst/>
          </a:prstGeom>
          <a:noFill/>
          <a:ln w="12700">
            <a:noFill/>
            <a:prstDash val="dash"/>
            <a:miter lim="800000"/>
          </a:ln>
        </p:spPr>
        <p:txBody>
          <a:bodyPr wrap="square" lIns="108842" tIns="54420" rIns="108842" bIns="54420">
            <a:spAutoFit/>
          </a:bodyPr>
          <a:lstStyle/>
          <a:p>
            <a:pPr algn="ctr">
              <a:lnSpc>
                <a:spcPct val="130000"/>
              </a:lnSpc>
              <a:buClr>
                <a:srgbClr val="C00000"/>
              </a:buClr>
            </a:pPr>
            <a:r>
              <a:rPr lang="zh-CN" altLang="en-US" sz="2400" dirty="0">
                <a:solidFill>
                  <a:srgbClr val="000066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攻关配套超深井优快钻井等技术，在目标日益复杂的情况下，钻井周期逐年下降</a:t>
            </a:r>
            <a:endParaRPr lang="zh-CN" altLang="en-US" sz="2400" dirty="0">
              <a:solidFill>
                <a:srgbClr val="000066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28" name="文本框 3"/>
          <p:cNvSpPr txBox="1"/>
          <p:nvPr/>
        </p:nvSpPr>
        <p:spPr>
          <a:xfrm>
            <a:off x="516967" y="1727165"/>
            <a:ext cx="1116124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dist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库车山前：</a:t>
            </a:r>
            <a:r>
              <a:rPr lang="zh-CN" altLang="en-US" sz="2000" dirty="0">
                <a:solidFill>
                  <a:prstClr val="black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配套形成应对多条断层、多套盐层的钻井技术，平均钻井周期由</a:t>
            </a:r>
            <a:r>
              <a:rPr lang="en-US" altLang="zh-CN" sz="2000" dirty="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XX</a:t>
            </a:r>
            <a:r>
              <a:rPr lang="zh-CN" altLang="en-US" sz="2000" dirty="0">
                <a:solidFill>
                  <a:prstClr val="black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天降至</a:t>
            </a:r>
            <a:r>
              <a:rPr lang="en-US" altLang="zh-CN" sz="2000" dirty="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XX</a:t>
            </a:r>
            <a:r>
              <a:rPr lang="zh-CN" altLang="en-US" sz="2000" dirty="0">
                <a:solidFill>
                  <a:prstClr val="black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天</a:t>
            </a:r>
            <a:endParaRPr lang="zh-CN" altLang="en-US" sz="2000" dirty="0">
              <a:solidFill>
                <a:prstClr val="black"/>
              </a:solidFill>
              <a:latin typeface="方正大黑简体" panose="02010601030101010101" pitchFamily="2" charset="-122"/>
              <a:ea typeface="方正大黑简体" panose="02010601030101010101" pitchFamily="2" charset="-122"/>
              <a:sym typeface="+mn-ea"/>
            </a:endParaRPr>
          </a:p>
          <a:p>
            <a:pPr marL="342900" lvl="0" indent="-342900" algn="dist"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台  盆  区：</a:t>
            </a:r>
            <a:r>
              <a:rPr lang="zh-CN" altLang="en-US" sz="2000" dirty="0">
                <a:solidFill>
                  <a:prstClr val="black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打成</a:t>
            </a:r>
            <a:r>
              <a:rPr lang="en-US" altLang="zh-CN" sz="2000" dirty="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8882</a:t>
            </a:r>
            <a:r>
              <a:rPr lang="zh-CN" altLang="en-US" sz="2000" dirty="0">
                <a:solidFill>
                  <a:prstClr val="black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米的亚洲陆上第一深井轮探</a:t>
            </a:r>
            <a:r>
              <a:rPr lang="en-US" altLang="zh-CN" sz="2000" dirty="0">
                <a:solidFill>
                  <a:prstClr val="black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1</a:t>
            </a:r>
            <a:r>
              <a:rPr lang="zh-CN" altLang="en-US" sz="2000" dirty="0">
                <a:solidFill>
                  <a:prstClr val="black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井，创造</a:t>
            </a:r>
            <a:r>
              <a:rPr lang="en-US" altLang="zh-CN" sz="2000" dirty="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7</a:t>
            </a:r>
            <a:r>
              <a:rPr lang="zh-CN" altLang="en-US" sz="2000" dirty="0">
                <a:solidFill>
                  <a:prstClr val="black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项亚洲纪录，具备</a:t>
            </a:r>
            <a:r>
              <a:rPr lang="en-US" altLang="zh-CN" sz="2000" dirty="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9000</a:t>
            </a:r>
            <a:r>
              <a:rPr lang="zh-CN" altLang="en-US" sz="2000" dirty="0">
                <a:solidFill>
                  <a:prstClr val="black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  <a:sym typeface="+mn-ea"/>
              </a:rPr>
              <a:t>米钻探能力</a:t>
            </a:r>
            <a:endParaRPr lang="zh-CN" altLang="en-US" sz="2000" dirty="0">
              <a:solidFill>
                <a:prstClr val="black"/>
              </a:solidFill>
              <a:latin typeface="方正大黑简体" panose="02010601030101010101" pitchFamily="2" charset="-122"/>
              <a:ea typeface="方正大黑简体" panose="02010601030101010101" pitchFamily="2" charset="-122"/>
              <a:sym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418734" y="2852936"/>
            <a:ext cx="4968553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轮探</a:t>
            </a:r>
            <a:r>
              <a:rPr lang="en-US" altLang="zh-CN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</a:t>
            </a:r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井七项亚洲纪录</a:t>
            </a:r>
            <a:endParaRPr lang="zh-CN" altLang="en-US" sz="1600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6392278" y="3263498"/>
          <a:ext cx="5001669" cy="3189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455"/>
                <a:gridCol w="2728183"/>
                <a:gridCol w="1455031"/>
              </a:tblGrid>
              <a:tr h="39873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方正黑体简体" panose="02000000000000000000" pitchFamily="2" charset="-122"/>
                          <a:ea typeface="方正黑体简体" panose="02000000000000000000" pitchFamily="2" charset="-122"/>
                          <a:cs typeface="+mn-cs"/>
                        </a:rPr>
                        <a:t>序号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方正黑体简体" panose="02000000000000000000" pitchFamily="2" charset="-122"/>
                        <a:ea typeface="方正黑体简体" panose="02000000000000000000" pitchFamily="2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方正黑体简体" panose="02000000000000000000" pitchFamily="2" charset="-122"/>
                          <a:ea typeface="方正黑体简体" panose="02000000000000000000" pitchFamily="2" charset="-122"/>
                          <a:cs typeface="+mn-cs"/>
                        </a:rPr>
                        <a:t>纪录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方正黑体简体" panose="02000000000000000000" pitchFamily="2" charset="-122"/>
                        <a:ea typeface="方正黑体简体" panose="02000000000000000000" pitchFamily="2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方正黑体简体" panose="02000000000000000000" pitchFamily="2" charset="-122"/>
                          <a:ea typeface="方正黑体简体" panose="02000000000000000000" pitchFamily="2" charset="-122"/>
                          <a:cs typeface="+mn-cs"/>
                        </a:rPr>
                        <a:t>数值（米）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方正黑体简体" panose="02000000000000000000" pitchFamily="2" charset="-122"/>
                        <a:ea typeface="方正黑体简体" panose="02000000000000000000" pitchFamily="2" charset="-122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987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1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最深钻井纪录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8882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987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2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最深取心纪录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8649.5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987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3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最深测井纪录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8877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987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4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最深射孔纪录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8750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987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5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7</a:t>
                      </a:r>
                      <a:r>
                        <a:rPr lang="zh-CN" altLang="en-US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寸套管下深最深纪录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8860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987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6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机械分层改造最深纪录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8253.69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987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7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完井管柱下深最深纪录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方正黑体简体" panose="02000000000000000000" pitchFamily="2" charset="-122"/>
                          <a:ea typeface="方正黑体简体" panose="02000000000000000000" pitchFamily="2" charset="-122"/>
                        </a:rPr>
                        <a:t>8744.42</a:t>
                      </a:r>
                      <a:endParaRPr lang="zh-CN" altLang="en-US" sz="1400" dirty="0">
                        <a:latin typeface="方正黑体简体" panose="02000000000000000000" pitchFamily="2" charset="-122"/>
                        <a:ea typeface="方正黑体简体" panose="02000000000000000000" pitchFamily="2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4" name="矩形 33"/>
          <p:cNvSpPr/>
          <p:nvPr/>
        </p:nvSpPr>
        <p:spPr>
          <a:xfrm>
            <a:off x="2097869" y="2852936"/>
            <a:ext cx="2418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复杂构造井身结构示意图</a:t>
            </a:r>
            <a:endParaRPr lang="zh-CN" altLang="en-US" sz="1600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728959" y="3175541"/>
            <a:ext cx="5396542" cy="3321933"/>
            <a:chOff x="552971" y="3363970"/>
            <a:chExt cx="5697006" cy="3070943"/>
          </a:xfrm>
        </p:grpSpPr>
        <p:pic>
          <p:nvPicPr>
            <p:cNvPr id="36" name="图片 35" descr="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8330" y="3659505"/>
              <a:ext cx="4959985" cy="27400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6" name="TextBox 45"/>
            <p:cNvSpPr txBox="1"/>
            <p:nvPr/>
          </p:nvSpPr>
          <p:spPr>
            <a:xfrm>
              <a:off x="4078168" y="3363970"/>
              <a:ext cx="731841" cy="3155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b="1" dirty="0">
                  <a:solidFill>
                    <a:srgbClr val="000000"/>
                  </a:solidFill>
                  <a:latin typeface="方正黑体简体" panose="02000000000000000000" pitchFamily="2" charset="-122"/>
                  <a:ea typeface="方正黑体简体" panose="02000000000000000000" pitchFamily="2" charset="-122"/>
                </a:rPr>
                <a:t>两套盐</a:t>
              </a:r>
              <a:endParaRPr lang="zh-CN" altLang="en-US" sz="1000" b="1" dirty="0">
                <a:solidFill>
                  <a:srgbClr val="0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998048" y="3363970"/>
              <a:ext cx="731841" cy="3155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b="1" dirty="0">
                  <a:solidFill>
                    <a:srgbClr val="000000"/>
                  </a:solidFill>
                  <a:latin typeface="方正黑体简体" panose="02000000000000000000" pitchFamily="2" charset="-122"/>
                  <a:ea typeface="方正黑体简体" panose="02000000000000000000" pitchFamily="2" charset="-122"/>
                </a:rPr>
                <a:t>一套盐</a:t>
              </a:r>
              <a:endParaRPr lang="zh-CN" altLang="en-US" sz="1000" b="1" dirty="0">
                <a:solidFill>
                  <a:srgbClr val="0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269980" y="3384005"/>
              <a:ext cx="731841" cy="3155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00" b="1" dirty="0">
                  <a:solidFill>
                    <a:srgbClr val="000000"/>
                  </a:solidFill>
                  <a:latin typeface="方正黑体简体" panose="02000000000000000000" pitchFamily="2" charset="-122"/>
                  <a:ea typeface="方正黑体简体" panose="02000000000000000000" pitchFamily="2" charset="-122"/>
                </a:rPr>
                <a:t>三套盐</a:t>
              </a:r>
              <a:endParaRPr lang="zh-CN" altLang="en-US" sz="1000" b="1" dirty="0">
                <a:solidFill>
                  <a:srgbClr val="000000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552971" y="3659316"/>
              <a:ext cx="5697006" cy="2775597"/>
              <a:chOff x="768871" y="3659316"/>
              <a:chExt cx="5328716" cy="2775597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5433005" y="3688758"/>
                <a:ext cx="664582" cy="2746155"/>
                <a:chOff x="8117895" y="2213865"/>
                <a:chExt cx="477292" cy="3832804"/>
              </a:xfrm>
            </p:grpSpPr>
            <p:sp>
              <p:nvSpPr>
                <p:cNvPr id="91" name="TextBox 90"/>
                <p:cNvSpPr txBox="1"/>
                <p:nvPr/>
              </p:nvSpPr>
              <p:spPr>
                <a:xfrm>
                  <a:off x="8117895" y="2213865"/>
                  <a:ext cx="458122" cy="3578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7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  <a:cs typeface="Times New Roman" panose="02020603050405020304" pitchFamily="18" charset="0"/>
                    </a:rPr>
                    <a:t>1000</a:t>
                  </a:r>
                  <a:endParaRPr lang="zh-CN" altLang="en-US" sz="7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" name="TextBox 91"/>
                <p:cNvSpPr txBox="1"/>
                <p:nvPr/>
              </p:nvSpPr>
              <p:spPr>
                <a:xfrm>
                  <a:off x="8137065" y="2652961"/>
                  <a:ext cx="458122" cy="3578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7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  <a:cs typeface="Times New Roman" panose="02020603050405020304" pitchFamily="18" charset="0"/>
                    </a:rPr>
                    <a:t>2000</a:t>
                  </a:r>
                  <a:endParaRPr lang="zh-CN" altLang="en-US" sz="7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3" name="TextBox 92"/>
                <p:cNvSpPr txBox="1"/>
                <p:nvPr/>
              </p:nvSpPr>
              <p:spPr>
                <a:xfrm>
                  <a:off x="8134546" y="3096330"/>
                  <a:ext cx="458122" cy="3578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7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  <a:cs typeface="Times New Roman" panose="02020603050405020304" pitchFamily="18" charset="0"/>
                    </a:rPr>
                    <a:t>3000</a:t>
                  </a:r>
                  <a:endParaRPr lang="zh-CN" altLang="en-US" sz="7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" name="TextBox 93"/>
                <p:cNvSpPr txBox="1"/>
                <p:nvPr/>
              </p:nvSpPr>
              <p:spPr>
                <a:xfrm>
                  <a:off x="8134546" y="3509925"/>
                  <a:ext cx="458122" cy="3578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7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  <a:cs typeface="Times New Roman" panose="02020603050405020304" pitchFamily="18" charset="0"/>
                    </a:rPr>
                    <a:t>4000</a:t>
                  </a:r>
                  <a:endParaRPr lang="zh-CN" altLang="en-US" sz="7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5" name="TextBox 94"/>
                <p:cNvSpPr txBox="1"/>
                <p:nvPr/>
              </p:nvSpPr>
              <p:spPr>
                <a:xfrm>
                  <a:off x="8134546" y="3941709"/>
                  <a:ext cx="458122" cy="3578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7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  <a:cs typeface="Times New Roman" panose="02020603050405020304" pitchFamily="18" charset="0"/>
                    </a:rPr>
                    <a:t>5000</a:t>
                  </a:r>
                  <a:endParaRPr lang="zh-CN" altLang="en-US" sz="7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" name="TextBox 95"/>
                <p:cNvSpPr txBox="1"/>
                <p:nvPr/>
              </p:nvSpPr>
              <p:spPr>
                <a:xfrm>
                  <a:off x="8134546" y="4374386"/>
                  <a:ext cx="458122" cy="3578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7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  <a:cs typeface="Times New Roman" panose="02020603050405020304" pitchFamily="18" charset="0"/>
                    </a:rPr>
                    <a:t>6000</a:t>
                  </a:r>
                  <a:endParaRPr lang="zh-CN" altLang="en-US" sz="7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7" name="TextBox 96"/>
                <p:cNvSpPr txBox="1"/>
                <p:nvPr/>
              </p:nvSpPr>
              <p:spPr>
                <a:xfrm>
                  <a:off x="8134546" y="4815713"/>
                  <a:ext cx="458122" cy="3578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7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  <a:cs typeface="Times New Roman" panose="02020603050405020304" pitchFamily="18" charset="0"/>
                    </a:rPr>
                    <a:t>7000</a:t>
                  </a:r>
                  <a:endParaRPr lang="zh-CN" altLang="en-US" sz="7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" name="TextBox 97"/>
                <p:cNvSpPr txBox="1"/>
                <p:nvPr/>
              </p:nvSpPr>
              <p:spPr>
                <a:xfrm>
                  <a:off x="8134546" y="5261811"/>
                  <a:ext cx="458122" cy="3578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7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  <a:cs typeface="Times New Roman" panose="02020603050405020304" pitchFamily="18" charset="0"/>
                    </a:rPr>
                    <a:t>8000</a:t>
                  </a:r>
                  <a:endParaRPr lang="zh-CN" altLang="en-US" sz="7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" name="TextBox 98"/>
                <p:cNvSpPr txBox="1"/>
                <p:nvPr/>
              </p:nvSpPr>
              <p:spPr>
                <a:xfrm>
                  <a:off x="8134546" y="5688822"/>
                  <a:ext cx="458122" cy="3578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7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  <a:cs typeface="Times New Roman" panose="02020603050405020304" pitchFamily="18" charset="0"/>
                    </a:rPr>
                    <a:t>9000</a:t>
                  </a:r>
                  <a:endParaRPr lang="zh-CN" altLang="en-US" sz="7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54" name="组合 53"/>
              <p:cNvGrpSpPr/>
              <p:nvPr/>
            </p:nvGrpSpPr>
            <p:grpSpPr>
              <a:xfrm>
                <a:off x="5827545" y="3678365"/>
                <a:ext cx="125331" cy="2624603"/>
                <a:chOff x="8307414" y="2119474"/>
                <a:chExt cx="90011" cy="3663155"/>
              </a:xfrm>
            </p:grpSpPr>
            <p:cxnSp>
              <p:nvCxnSpPr>
                <p:cNvPr id="81" name="直接连接符 80"/>
                <p:cNvCxnSpPr/>
                <p:nvPr/>
              </p:nvCxnSpPr>
              <p:spPr bwMode="auto">
                <a:xfrm>
                  <a:off x="8397425" y="2119474"/>
                  <a:ext cx="0" cy="3663155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2" name="直接连接符 81"/>
                <p:cNvCxnSpPr/>
                <p:nvPr/>
              </p:nvCxnSpPr>
              <p:spPr bwMode="auto">
                <a:xfrm>
                  <a:off x="8308110" y="2303875"/>
                  <a:ext cx="89315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3" name="直接连接符 82"/>
                <p:cNvCxnSpPr/>
                <p:nvPr/>
              </p:nvCxnSpPr>
              <p:spPr bwMode="auto">
                <a:xfrm>
                  <a:off x="8308110" y="2753925"/>
                  <a:ext cx="89315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4" name="直接连接符 83"/>
                <p:cNvCxnSpPr/>
                <p:nvPr/>
              </p:nvCxnSpPr>
              <p:spPr bwMode="auto">
                <a:xfrm>
                  <a:off x="8307415" y="3203975"/>
                  <a:ext cx="89315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5" name="直接连接符 84"/>
                <p:cNvCxnSpPr/>
                <p:nvPr/>
              </p:nvCxnSpPr>
              <p:spPr bwMode="auto">
                <a:xfrm>
                  <a:off x="8308110" y="3609020"/>
                  <a:ext cx="89315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6" name="直接连接符 85"/>
                <p:cNvCxnSpPr/>
                <p:nvPr/>
              </p:nvCxnSpPr>
              <p:spPr bwMode="auto">
                <a:xfrm>
                  <a:off x="8307414" y="4043943"/>
                  <a:ext cx="89315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7" name="直接连接符 86"/>
                <p:cNvCxnSpPr/>
                <p:nvPr/>
              </p:nvCxnSpPr>
              <p:spPr bwMode="auto">
                <a:xfrm>
                  <a:off x="8307415" y="4464115"/>
                  <a:ext cx="89315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8" name="直接连接符 87"/>
                <p:cNvCxnSpPr/>
                <p:nvPr/>
              </p:nvCxnSpPr>
              <p:spPr bwMode="auto">
                <a:xfrm>
                  <a:off x="8307415" y="4914165"/>
                  <a:ext cx="89315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89" name="直接连接符 88"/>
                <p:cNvCxnSpPr/>
                <p:nvPr/>
              </p:nvCxnSpPr>
              <p:spPr bwMode="auto">
                <a:xfrm>
                  <a:off x="8307415" y="5364215"/>
                  <a:ext cx="89315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0" name="直接连接符 89"/>
                <p:cNvCxnSpPr/>
                <p:nvPr/>
              </p:nvCxnSpPr>
              <p:spPr bwMode="auto">
                <a:xfrm>
                  <a:off x="8307415" y="5774744"/>
                  <a:ext cx="89315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grpSp>
            <p:nvGrpSpPr>
              <p:cNvPr id="55" name="组合 54"/>
              <p:cNvGrpSpPr/>
              <p:nvPr/>
            </p:nvGrpSpPr>
            <p:grpSpPr>
              <a:xfrm>
                <a:off x="768871" y="3659316"/>
                <a:ext cx="4352753" cy="2769310"/>
                <a:chOff x="896162" y="3790322"/>
                <a:chExt cx="4035060" cy="2644116"/>
              </a:xfrm>
            </p:grpSpPr>
            <p:sp>
              <p:nvSpPr>
                <p:cNvPr id="57" name="TextBox 56"/>
                <p:cNvSpPr txBox="1"/>
                <p:nvPr/>
              </p:nvSpPr>
              <p:spPr>
                <a:xfrm>
                  <a:off x="3485950" y="3963984"/>
                  <a:ext cx="509071" cy="2259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20″</a:t>
                  </a:r>
                  <a:endParaRPr lang="zh-CN" altLang="en-US" sz="6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3378222" y="5176762"/>
                  <a:ext cx="537515" cy="2259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10 3/4″</a:t>
                  </a:r>
                  <a:endParaRPr lang="en-US" altLang="zh-CN" sz="6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3366115" y="5797538"/>
                  <a:ext cx="565445" cy="24480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7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8 1/8″</a:t>
                  </a:r>
                  <a:endParaRPr lang="zh-CN" altLang="en-US" sz="7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60" name="TextBox 59"/>
                <p:cNvSpPr txBox="1"/>
                <p:nvPr/>
              </p:nvSpPr>
              <p:spPr>
                <a:xfrm>
                  <a:off x="4456677" y="3935611"/>
                  <a:ext cx="474545" cy="2259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24″</a:t>
                  </a:r>
                  <a:endParaRPr lang="zh-CN" altLang="en-US" sz="6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61" name="TextBox 60"/>
                <p:cNvSpPr txBox="1"/>
                <p:nvPr/>
              </p:nvSpPr>
              <p:spPr>
                <a:xfrm>
                  <a:off x="4367506" y="4601708"/>
                  <a:ext cx="537515" cy="2259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18 5/8″</a:t>
                  </a:r>
                  <a:endParaRPr lang="zh-CN" altLang="en-US" sz="6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62" name="TextBox 61"/>
                <p:cNvSpPr txBox="1"/>
                <p:nvPr/>
              </p:nvSpPr>
              <p:spPr>
                <a:xfrm rot="623615">
                  <a:off x="4317989" y="5043688"/>
                  <a:ext cx="537515" cy="376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7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14 3/8″</a:t>
                  </a:r>
                  <a:endParaRPr lang="zh-CN" altLang="en-US" sz="7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63" name="TextBox 62"/>
                <p:cNvSpPr txBox="1"/>
                <p:nvPr/>
              </p:nvSpPr>
              <p:spPr>
                <a:xfrm>
                  <a:off x="4305303" y="5469902"/>
                  <a:ext cx="478194" cy="3389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8 1/8″</a:t>
                  </a:r>
                  <a:endParaRPr lang="zh-CN" altLang="en-US" sz="6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64" name="TextBox 63"/>
                <p:cNvSpPr txBox="1"/>
                <p:nvPr/>
              </p:nvSpPr>
              <p:spPr>
                <a:xfrm>
                  <a:off x="3372789" y="5956367"/>
                  <a:ext cx="478194" cy="3389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5 1/2″</a:t>
                  </a:r>
                  <a:endParaRPr lang="zh-CN" altLang="en-US" sz="6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65" name="TextBox 30"/>
                <p:cNvSpPr txBox="1"/>
                <p:nvPr/>
              </p:nvSpPr>
              <p:spPr>
                <a:xfrm>
                  <a:off x="1869139" y="4660687"/>
                  <a:ext cx="624849" cy="2636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8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低压层</a:t>
                  </a:r>
                  <a:endParaRPr lang="zh-CN" altLang="en-US" sz="8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66" name="TextBox 31"/>
                <p:cNvSpPr txBox="1"/>
                <p:nvPr/>
              </p:nvSpPr>
              <p:spPr>
                <a:xfrm rot="21077299">
                  <a:off x="896162" y="5496638"/>
                  <a:ext cx="769856" cy="2636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800" dirty="0">
                      <a:solidFill>
                        <a:srgbClr val="FFFFFF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盐层</a:t>
                  </a:r>
                  <a:endParaRPr lang="zh-CN" altLang="en-US" sz="800" dirty="0">
                    <a:solidFill>
                      <a:srgbClr val="FFFFFF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67" name="TextBox 66"/>
                <p:cNvSpPr txBox="1"/>
                <p:nvPr/>
              </p:nvSpPr>
              <p:spPr>
                <a:xfrm>
                  <a:off x="1982115" y="3790322"/>
                  <a:ext cx="489798" cy="2259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24″</a:t>
                  </a:r>
                  <a:endParaRPr lang="zh-CN" altLang="en-US" sz="6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68" name="TextBox 67"/>
                <p:cNvSpPr txBox="1"/>
                <p:nvPr/>
              </p:nvSpPr>
              <p:spPr>
                <a:xfrm>
                  <a:off x="1871069" y="4056236"/>
                  <a:ext cx="537515" cy="2259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18 5/8″</a:t>
                  </a:r>
                  <a:endParaRPr lang="zh-CN" altLang="en-US" sz="6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69" name="TextBox 68"/>
                <p:cNvSpPr txBox="1"/>
                <p:nvPr/>
              </p:nvSpPr>
              <p:spPr>
                <a:xfrm>
                  <a:off x="1809653" y="4867623"/>
                  <a:ext cx="537515" cy="2259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14 3/8″</a:t>
                  </a:r>
                  <a:endParaRPr lang="zh-CN" altLang="en-US" sz="6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70" name="TextBox 69"/>
                <p:cNvSpPr txBox="1"/>
                <p:nvPr/>
              </p:nvSpPr>
              <p:spPr>
                <a:xfrm>
                  <a:off x="4286115" y="5288149"/>
                  <a:ext cx="537515" cy="2259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10 3/4″</a:t>
                  </a:r>
                  <a:endParaRPr lang="zh-CN" altLang="en-US" sz="6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71" name="TextBox 70"/>
                <p:cNvSpPr txBox="1"/>
                <p:nvPr/>
              </p:nvSpPr>
              <p:spPr>
                <a:xfrm>
                  <a:off x="1757162" y="5771615"/>
                  <a:ext cx="327416" cy="3389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5″</a:t>
                  </a:r>
                  <a:endParaRPr lang="zh-CN" altLang="en-US" sz="6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72" name="TextBox 193"/>
                <p:cNvSpPr txBox="1"/>
                <p:nvPr/>
              </p:nvSpPr>
              <p:spPr>
                <a:xfrm>
                  <a:off x="1797809" y="5289239"/>
                  <a:ext cx="478194" cy="3389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9 5/8″</a:t>
                  </a:r>
                  <a:endParaRPr lang="zh-CN" altLang="en-US" sz="6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73" name="TextBox 128"/>
                <p:cNvSpPr txBox="1"/>
                <p:nvPr/>
              </p:nvSpPr>
              <p:spPr>
                <a:xfrm>
                  <a:off x="3915738" y="5526167"/>
                  <a:ext cx="478194" cy="3389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5 1/2″</a:t>
                  </a:r>
                  <a:endParaRPr lang="zh-CN" altLang="en-US" sz="6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74" name="TextBox 194"/>
                <p:cNvSpPr txBox="1"/>
                <p:nvPr/>
              </p:nvSpPr>
              <p:spPr>
                <a:xfrm>
                  <a:off x="1855696" y="5595777"/>
                  <a:ext cx="534019" cy="2259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7.17″</a:t>
                  </a:r>
                  <a:endParaRPr lang="zh-CN" altLang="en-US" sz="6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75" name="TextBox 95"/>
                <p:cNvSpPr txBox="1"/>
                <p:nvPr/>
              </p:nvSpPr>
              <p:spPr>
                <a:xfrm>
                  <a:off x="3471728" y="4667895"/>
                  <a:ext cx="537515" cy="2259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14 3/8″</a:t>
                  </a:r>
                  <a:endParaRPr lang="zh-CN" altLang="en-US" sz="60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76" name="矩形 75"/>
                <p:cNvSpPr/>
                <p:nvPr/>
              </p:nvSpPr>
              <p:spPr>
                <a:xfrm rot="19765506">
                  <a:off x="1236524" y="4393949"/>
                  <a:ext cx="434479" cy="26363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800" dirty="0">
                      <a:solidFill>
                        <a:srgbClr val="FFFFFF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盐层</a:t>
                  </a:r>
                  <a:endParaRPr lang="zh-CN" altLang="en-US" sz="800" dirty="0">
                    <a:solidFill>
                      <a:srgbClr val="FFFFFF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77" name="矩形 76"/>
                <p:cNvSpPr/>
                <p:nvPr/>
              </p:nvSpPr>
              <p:spPr>
                <a:xfrm rot="1062396">
                  <a:off x="2577000" y="5543788"/>
                  <a:ext cx="663152" cy="26363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800" dirty="0">
                      <a:solidFill>
                        <a:srgbClr val="FFFFFF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高压盐水</a:t>
                  </a:r>
                  <a:endParaRPr lang="zh-CN" altLang="en-US" sz="800" dirty="0">
                    <a:solidFill>
                      <a:srgbClr val="FFFFFF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78" name="TextBox 77"/>
                <p:cNvSpPr txBox="1"/>
                <p:nvPr/>
              </p:nvSpPr>
              <p:spPr>
                <a:xfrm rot="2470899">
                  <a:off x="2935346" y="6082949"/>
                  <a:ext cx="806073" cy="31071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CN"/>
                  </a:defPPr>
                  <a:lvl1pPr>
                    <a:defRPr sz="1050" b="1">
                      <a:latin typeface="方正黑体简体" panose="02000000000000000000" pitchFamily="2" charset="-122"/>
                      <a:ea typeface="方正黑体简体" panose="02000000000000000000" pitchFamily="2" charset="-122"/>
                    </a:defRPr>
                  </a:lvl1pPr>
                </a:lstStyle>
                <a:p>
                  <a:r>
                    <a:rPr lang="zh-CN" altLang="en-US" dirty="0">
                      <a:solidFill>
                        <a:srgbClr val="000000"/>
                      </a:solidFill>
                    </a:rPr>
                    <a:t>克深断裂</a:t>
                  </a:r>
                  <a:endParaRPr lang="zh-CN" altLang="en-US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79" name="TextBox 78"/>
                <p:cNvSpPr txBox="1"/>
                <p:nvPr/>
              </p:nvSpPr>
              <p:spPr>
                <a:xfrm rot="2956234">
                  <a:off x="4086552" y="5892454"/>
                  <a:ext cx="851542" cy="2324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05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克深</a:t>
                  </a:r>
                  <a:r>
                    <a:rPr lang="en-US" altLang="zh-CN" sz="105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1</a:t>
                  </a:r>
                  <a:r>
                    <a:rPr lang="zh-CN" altLang="en-US" sz="1050" b="1" dirty="0">
                      <a:solidFill>
                        <a:srgbClr val="000000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号断裂</a:t>
                  </a:r>
                  <a:endParaRPr lang="zh-CN" altLang="en-US" sz="1050" b="1" dirty="0">
                    <a:solidFill>
                      <a:srgbClr val="000000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  <p:sp>
              <p:nvSpPr>
                <p:cNvPr id="80" name="矩形 79"/>
                <p:cNvSpPr/>
                <p:nvPr/>
              </p:nvSpPr>
              <p:spPr>
                <a:xfrm>
                  <a:off x="3453188" y="5424815"/>
                  <a:ext cx="463063" cy="28246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900" dirty="0">
                      <a:solidFill>
                        <a:srgbClr val="FFFFFF"/>
                      </a:solidFill>
                      <a:latin typeface="方正黑体简体" panose="02000000000000000000" pitchFamily="2" charset="-122"/>
                      <a:ea typeface="方正黑体简体" panose="02000000000000000000" pitchFamily="2" charset="-122"/>
                    </a:rPr>
                    <a:t>盐层</a:t>
                  </a:r>
                  <a:endParaRPr lang="zh-CN" altLang="en-US" sz="900" dirty="0">
                    <a:solidFill>
                      <a:srgbClr val="FFFFFF"/>
                    </a:solidFill>
                    <a:latin typeface="方正黑体简体" panose="02000000000000000000" pitchFamily="2" charset="-122"/>
                    <a:ea typeface="方正黑体简体" panose="02000000000000000000" pitchFamily="2" charset="-122"/>
                  </a:endParaRPr>
                </a:p>
              </p:txBody>
            </p:sp>
          </p:grpSp>
          <p:sp>
            <p:nvSpPr>
              <p:cNvPr id="56" name="TextBox 55"/>
              <p:cNvSpPr txBox="1"/>
              <p:nvPr/>
            </p:nvSpPr>
            <p:spPr>
              <a:xfrm rot="2253324">
                <a:off x="4654819" y="5482720"/>
                <a:ext cx="1031419" cy="3254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>
                  <a:defRPr sz="1050" b="1">
                    <a:latin typeface="方正黑体简体" panose="02000000000000000000" pitchFamily="2" charset="-122"/>
                    <a:ea typeface="方正黑体简体" panose="02000000000000000000" pitchFamily="2" charset="-122"/>
                  </a:defRPr>
                </a:lvl1pPr>
              </a:lstStyle>
              <a:p>
                <a:r>
                  <a:rPr lang="zh-CN" altLang="en-US" dirty="0">
                    <a:solidFill>
                      <a:srgbClr val="000000"/>
                    </a:solidFill>
                  </a:rPr>
                  <a:t>克拉苏断裂</a:t>
                </a:r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00" name="TextBox 99"/>
          <p:cNvSpPr txBox="1"/>
          <p:nvPr/>
        </p:nvSpPr>
        <p:spPr>
          <a:xfrm>
            <a:off x="2769148" y="3521990"/>
            <a:ext cx="565785" cy="245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050" b="1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sz="1000" dirty="0">
                <a:solidFill>
                  <a:srgbClr val="FFFF00"/>
                </a:solidFill>
              </a:rPr>
              <a:t>砾石层</a:t>
            </a:r>
            <a:endParaRPr lang="zh-CN" altLang="en-US" sz="1000" dirty="0">
              <a:solidFill>
                <a:srgbClr val="FFFF00"/>
              </a:solidFill>
            </a:endParaRPr>
          </a:p>
        </p:txBody>
      </p:sp>
      <p:sp>
        <p:nvSpPr>
          <p:cNvPr id="101" name="圆角矩形标注 100"/>
          <p:cNvSpPr/>
          <p:nvPr/>
        </p:nvSpPr>
        <p:spPr>
          <a:xfrm>
            <a:off x="678336" y="2883581"/>
            <a:ext cx="5173686" cy="1521928"/>
          </a:xfrm>
          <a:prstGeom prst="wedgeRoundRectCallout">
            <a:avLst>
              <a:gd name="adj1" fmla="val -13398"/>
              <a:gd name="adj2" fmla="val -98048"/>
              <a:gd name="adj3" fmla="val 16667"/>
            </a:avLst>
          </a:prstGeom>
          <a:solidFill>
            <a:srgbClr val="92D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正文下方的文字为方正大黑简体，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18~22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号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颜色黑色（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RGB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：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0,G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0,B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）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行距根据行数确定，一般介于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1.25~1.5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之间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使用箭头项目符号，箭头变更为深红色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重点内容使用深红色字体，不加句号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  <p:sp>
        <p:nvSpPr>
          <p:cNvPr id="102" name="圆角矩形标注 101"/>
          <p:cNvSpPr/>
          <p:nvPr/>
        </p:nvSpPr>
        <p:spPr>
          <a:xfrm>
            <a:off x="6145025" y="3820039"/>
            <a:ext cx="5543618" cy="1296144"/>
          </a:xfrm>
          <a:prstGeom prst="wedgeRoundRectCallout">
            <a:avLst>
              <a:gd name="adj1" fmla="val 5912"/>
              <a:gd name="adj2" fmla="val -106548"/>
              <a:gd name="adj3" fmla="val 16667"/>
            </a:avLst>
          </a:prstGeom>
          <a:solidFill>
            <a:srgbClr val="92D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图表名称方正大黑简体，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16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号，不加粗，黑色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图表内文字使用方正黑体或者方正大黑简体，黑色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字体大小灵活调整，表头不加颜色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以清楚、大方为准，不宜过大，冲淡正文文字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02410" y="2044426"/>
            <a:ext cx="10990355" cy="3723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C00000"/>
              </a:buClr>
              <a:buSzPct val="95000"/>
              <a:buFont typeface="Wingdings" panose="05000000000000000000" pitchFamily="2" charset="2"/>
              <a:buChar char="Ø"/>
            </a:pPr>
            <a:r>
              <a:rPr lang="zh-CN" altLang="en-US" sz="2100" dirty="0">
                <a:solidFill>
                  <a:srgbClr val="0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建立学习贯彻习近平总书记重要指示批示精神落实机制，坚定不移推进</a:t>
            </a:r>
            <a:r>
              <a:rPr lang="en-US" altLang="zh-CN" sz="2100" dirty="0">
                <a:solidFill>
                  <a:srgbClr val="0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3000</a:t>
            </a:r>
            <a:r>
              <a:rPr lang="zh-CN" altLang="en-US" sz="2100" dirty="0">
                <a:solidFill>
                  <a:srgbClr val="0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万吨大油气田建设，以高质量发展成果践行“两个维护”</a:t>
            </a:r>
            <a:endParaRPr lang="zh-CN" altLang="en-US" sz="2100" dirty="0">
              <a:solidFill>
                <a:srgbClr val="000000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pPr marL="342900" lvl="0" indent="-342900" algn="just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C00000"/>
              </a:buClr>
              <a:buSzPct val="95000"/>
              <a:buFont typeface="Wingdings" panose="05000000000000000000" pitchFamily="2" charset="2"/>
              <a:buChar char="Ø"/>
            </a:pPr>
            <a:r>
              <a:rPr lang="zh-CN" altLang="en-US" sz="2100" dirty="0">
                <a:solidFill>
                  <a:srgbClr val="0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加强党工委统一领导，建立</a:t>
            </a:r>
            <a:r>
              <a:rPr lang="zh-CN" altLang="en-US" sz="2100" dirty="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“七统一”</a:t>
            </a:r>
            <a:r>
              <a:rPr lang="zh-CN" altLang="en-US" sz="2100" dirty="0">
                <a:solidFill>
                  <a:srgbClr val="0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工作机制，创新</a:t>
            </a:r>
            <a:r>
              <a:rPr lang="zh-CN" altLang="en-US" sz="2100" dirty="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“六共同”</a:t>
            </a:r>
            <a:r>
              <a:rPr lang="zh-CN" altLang="en-US" sz="2100" dirty="0">
                <a:solidFill>
                  <a:srgbClr val="0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联合党建，推进融合式、一体化管理，增强甲乙方工作合力</a:t>
            </a:r>
            <a:endParaRPr lang="zh-CN" altLang="en-US" sz="2100" dirty="0">
              <a:solidFill>
                <a:srgbClr val="000000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pPr marL="342900" lvl="0" indent="-342900" algn="just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C00000"/>
              </a:buClr>
              <a:buSzPct val="95000"/>
              <a:buFont typeface="Wingdings" panose="05000000000000000000" pitchFamily="2" charset="2"/>
              <a:buChar char="Ø"/>
            </a:pPr>
            <a:r>
              <a:rPr lang="zh-CN" altLang="en-US" sz="2100" dirty="0">
                <a:solidFill>
                  <a:srgbClr val="0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推进干部年轻化，公开选拔“三总师”，中层年轻干部占比提高</a:t>
            </a:r>
            <a:r>
              <a:rPr lang="en-US" altLang="zh-CN" sz="2100" dirty="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XX</a:t>
            </a:r>
            <a:r>
              <a:rPr lang="zh-CN" altLang="en-US" sz="2100" dirty="0">
                <a:solidFill>
                  <a:srgbClr val="0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个百分点</a:t>
            </a:r>
            <a:endParaRPr lang="zh-CN" altLang="en-US" sz="2100" dirty="0">
              <a:solidFill>
                <a:srgbClr val="000000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  <a:p>
            <a:pPr marL="342900" lvl="0" indent="-342900" algn="just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  <a:buClr>
                <a:srgbClr val="C00000"/>
              </a:buClr>
              <a:buSzPct val="95000"/>
              <a:buFont typeface="Wingdings" panose="05000000000000000000" pitchFamily="2" charset="2"/>
              <a:buChar char="Ø"/>
            </a:pPr>
            <a:r>
              <a:rPr lang="zh-CN" altLang="en-US" sz="2100" dirty="0">
                <a:solidFill>
                  <a:srgbClr val="0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践行</a:t>
            </a:r>
            <a:r>
              <a:rPr lang="zh-CN" altLang="en-US" sz="2100" dirty="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“一切为了三千万、一切为了老百姓”</a:t>
            </a:r>
            <a:r>
              <a:rPr lang="zh-CN" altLang="en-US" sz="2100" dirty="0">
                <a:solidFill>
                  <a:srgbClr val="0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，实施科研实验楼建设、小区配套等民生工程，增强企业的凝聚力</a:t>
            </a:r>
            <a:endParaRPr lang="zh-CN" altLang="en-US" sz="2100" dirty="0">
              <a:solidFill>
                <a:srgbClr val="000000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390685" y="1224844"/>
            <a:ext cx="11413805" cy="587375"/>
          </a:xfrm>
          <a:prstGeom prst="rect">
            <a:avLst/>
          </a:prstGeom>
          <a:noFill/>
          <a:ln w="12700">
            <a:noFill/>
            <a:prstDash val="dash"/>
            <a:miter lim="800000"/>
          </a:ln>
        </p:spPr>
        <p:txBody>
          <a:bodyPr wrap="square" lIns="108842" tIns="54420" rIns="108842" bIns="54420">
            <a:spAutoFit/>
          </a:bodyPr>
          <a:lstStyle>
            <a:defPPr>
              <a:defRPr lang="zh-CN"/>
            </a:defPPr>
            <a:lvl1pPr algn="ctr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defRPr sz="2600">
                <a:solidFill>
                  <a:srgbClr val="000066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</a:lstStyle>
          <a:p>
            <a:r>
              <a:rPr lang="zh-CN" altLang="en-US" sz="2400" dirty="0"/>
              <a:t>坚持“抓党建就是抓发展”，依靠高质量党建引领高质量发展</a:t>
            </a:r>
            <a:endParaRPr lang="zh-CN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1044000" y="324000"/>
            <a:ext cx="5237534" cy="508000"/>
          </a:xfrm>
          <a:prstGeom prst="rect">
            <a:avLst/>
          </a:prstGeom>
        </p:spPr>
        <p:txBody>
          <a:bodyPr wrap="square" lIns="108864" tIns="54431" rIns="108864" bIns="54431">
            <a:spAutoFit/>
          </a:bodyPr>
          <a:lstStyle/>
          <a:p>
            <a:r>
              <a:rPr kumimoji="1" lang="zh-CN" altLang="en-US" sz="2600" dirty="0">
                <a:solidFill>
                  <a:srgbClr val="C00000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rPr>
              <a:t>（三）不断提高党建质量</a:t>
            </a:r>
            <a:endParaRPr kumimoji="1" lang="zh-CN" altLang="en-US" sz="2600" dirty="0">
              <a:solidFill>
                <a:srgbClr val="C00000"/>
              </a:solidFill>
              <a:latin typeface="方正大黑简体" panose="02010601030101010101" pitchFamily="2" charset="-122"/>
              <a:ea typeface="方正大黑简体" panose="02010601030101010101" pitchFamily="2" charset="-122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3433291" y="4293096"/>
            <a:ext cx="5173686" cy="2016224"/>
          </a:xfrm>
          <a:prstGeom prst="wedgeRoundRectCallout">
            <a:avLst>
              <a:gd name="adj1" fmla="val -23902"/>
              <a:gd name="adj2" fmla="val -75087"/>
              <a:gd name="adj3" fmla="val 16667"/>
            </a:avLst>
          </a:prstGeom>
          <a:solidFill>
            <a:srgbClr val="92D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正文下方的文字为方正大黑简体，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18~22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号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颜色黑色（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RGB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：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0,G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0,B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）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行距根据行数确定，一般介于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1.25~1.5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之间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段前灵活调整，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6~18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磅为宜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行距一般介于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1.25~1.5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使用箭头项目符号，箭头变更为深红色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重点内容使用深红色字体</a:t>
            </a:r>
            <a:endParaRPr lang="en-US" altLang="zh-CN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854121" y="1556792"/>
            <a:ext cx="10486932" cy="3877945"/>
          </a:xfrm>
          <a:prstGeom prst="rect">
            <a:avLst/>
          </a:prstGeom>
          <a:noFill/>
          <a:ln w="12700">
            <a:noFill/>
            <a:prstDash val="dash"/>
            <a:miter lim="800000"/>
          </a:ln>
        </p:spPr>
        <p:txBody>
          <a:bodyPr wrap="square" lIns="108842" tIns="54420" rIns="108842" bIns="5442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buClr>
                <a:srgbClr val="C00000"/>
              </a:buClr>
              <a:defRPr sz="3000">
                <a:solidFill>
                  <a:srgbClr val="000066"/>
                </a:solidFill>
                <a:latin typeface="方正大黑简体" panose="02010601030101010101" pitchFamily="2" charset="-122"/>
                <a:ea typeface="方正大黑简体" panose="02010601030101010101" pitchFamily="2" charset="-122"/>
              </a:defRPr>
            </a:lvl1pPr>
          </a:lstStyle>
          <a:p>
            <a:pPr>
              <a:lnSpc>
                <a:spcPct val="175000"/>
              </a:lnSpc>
            </a:pPr>
            <a:r>
              <a:rPr lang="zh-CN" altLang="en-US" sz="2800" dirty="0" smtClean="0"/>
              <a:t>　　</a:t>
            </a:r>
            <a:r>
              <a:rPr lang="zh-CN" altLang="en-US" sz="2800" dirty="0"/>
              <a:t>只有荒凉的沙漠、没有荒凉的人生。</a:t>
            </a:r>
            <a:endParaRPr lang="zh-CN" altLang="en-US" sz="2800" dirty="0"/>
          </a:p>
          <a:p>
            <a:pPr>
              <a:lnSpc>
                <a:spcPct val="175000"/>
              </a:lnSpc>
            </a:pPr>
            <a:r>
              <a:rPr lang="zh-CN" altLang="en-US" sz="2800" dirty="0"/>
              <a:t>　　</a:t>
            </a:r>
            <a:r>
              <a:rPr lang="en-US" altLang="zh-CN" sz="2800" dirty="0"/>
              <a:t>XXXX</a:t>
            </a:r>
            <a:r>
              <a:rPr lang="zh-CN" altLang="en-US" sz="2800" dirty="0"/>
              <a:t>正处于大发展的关键时期，我们将抢抓机遇、乘势而上，以永不懈怠的精神状态，勇挑重担、积极作为，高质量推进</a:t>
            </a:r>
            <a:r>
              <a:rPr lang="en-US" altLang="zh-CN" sz="2800" dirty="0"/>
              <a:t>XXXX</a:t>
            </a:r>
            <a:r>
              <a:rPr lang="zh-CN" altLang="en-US" sz="2800" dirty="0"/>
              <a:t>事业发展，为保障国家能源安全、促进经济社会发展作出更大贡献。</a:t>
            </a:r>
            <a:endParaRPr lang="zh-CN" altLang="en-US" sz="2800" dirty="0"/>
          </a:p>
        </p:txBody>
      </p:sp>
      <p:sp>
        <p:nvSpPr>
          <p:cNvPr id="3" name="圆角矩形标注 2"/>
          <p:cNvSpPr/>
          <p:nvPr/>
        </p:nvSpPr>
        <p:spPr>
          <a:xfrm>
            <a:off x="3253271" y="5445224"/>
            <a:ext cx="5688632" cy="1008112"/>
          </a:xfrm>
          <a:prstGeom prst="wedgeRoundRectCallout">
            <a:avLst>
              <a:gd name="adj1" fmla="val -37052"/>
              <a:gd name="adj2" fmla="val -86811"/>
              <a:gd name="adj3" fmla="val 16667"/>
            </a:avLst>
          </a:prstGeom>
          <a:solidFill>
            <a:srgbClr val="92D050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结束语为方正大黑简体，</a:t>
            </a:r>
            <a:r>
              <a:rPr lang="en-US" altLang="zh-CN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28</a:t>
            </a:r>
            <a:r>
              <a:rPr lang="zh-CN" altLang="en-US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号，不加粗，两端对齐</a:t>
            </a:r>
            <a:endParaRPr lang="en-US" altLang="zh-CN" dirty="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颜色深蓝（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RGB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：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R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0,G</a:t>
            </a:r>
            <a:r>
              <a:rPr lang="zh-CN" altLang="en-US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0,B</a:t>
            </a:r>
            <a:r>
              <a:rPr lang="zh-CN" altLang="en-US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为</a:t>
            </a:r>
            <a:r>
              <a:rPr lang="en-US" altLang="zh-CN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102</a:t>
            </a:r>
            <a:r>
              <a:rPr lang="zh-CN" altLang="en-US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）</a:t>
            </a:r>
            <a:endParaRPr lang="zh-CN" altLang="en-US" dirty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  <a:p>
            <a:pPr algn="ctr"/>
            <a:r>
              <a:rPr lang="zh-CN" altLang="en-US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行距根据行数确定，一般介于</a:t>
            </a:r>
            <a:r>
              <a:rPr lang="en-US" altLang="zh-CN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1.5~2</a:t>
            </a:r>
            <a:r>
              <a:rPr lang="zh-CN" altLang="en-US" dirty="0" smtClean="0">
                <a:latin typeface="方正黑体简体" panose="02000000000000000000" pitchFamily="2" charset="-122"/>
                <a:ea typeface="方正黑体简体" panose="02000000000000000000" pitchFamily="2" charset="-122"/>
              </a:rPr>
              <a:t>倍之间</a:t>
            </a:r>
            <a:endParaRPr lang="en-US" altLang="zh-CN" dirty="0" smtClean="0">
              <a:latin typeface="方正黑体简体" panose="02000000000000000000" pitchFamily="2" charset="-122"/>
              <a:ea typeface="方正黑体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/>
          <p:nvPr/>
        </p:nvSpPr>
        <p:spPr>
          <a:xfrm>
            <a:off x="1419041" y="1845459"/>
            <a:ext cx="9357093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6000" b="1" spc="500" dirty="0">
                <a:solidFill>
                  <a:srgbClr val="C00000"/>
                </a:solidFill>
                <a:latin typeface="方正行楷简体" pitchFamily="2" charset="-122"/>
                <a:ea typeface="方正行楷简体" pitchFamily="2" charset="-122"/>
              </a:rPr>
              <a:t>谢谢</a:t>
            </a:r>
            <a:endParaRPr lang="en-US" altLang="zh-CN" sz="6000" b="1" spc="500" dirty="0">
              <a:solidFill>
                <a:srgbClr val="C00000"/>
              </a:solidFill>
              <a:latin typeface="米芾"/>
              <a:ea typeface="方正小标宋简体" panose="02000000000000000000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封面母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提纲母版">
  <a:themeElements>
    <a:clrScheme name="上市10周年汇报---塔里木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上市10周年汇报---塔里木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上市10周年汇报---塔里木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上市10周年汇报---塔里木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上市10周年汇报---塔里木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上市10周年汇报---塔里木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上市10周年汇报---塔里木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上市10周年汇报---塔里木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上市10周年汇报---塔里木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上市10周年汇报---塔里木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上市10周年汇报---塔里木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上市10周年汇报---塔里木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上市10周年汇报---塔里木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上市10周年汇报---塔里木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正文母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结尾页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2598</Words>
  <Application>WPS 演示</Application>
  <PresentationFormat>自定义</PresentationFormat>
  <Paragraphs>286</Paragraphs>
  <Slides>10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10</vt:i4>
      </vt:variant>
    </vt:vector>
  </HeadingPairs>
  <TitlesOfParts>
    <vt:vector size="32" baseType="lpstr">
      <vt:lpstr>Arial</vt:lpstr>
      <vt:lpstr>宋体</vt:lpstr>
      <vt:lpstr>Wingdings</vt:lpstr>
      <vt:lpstr>黑体</vt:lpstr>
      <vt:lpstr>方正小标宋简体</vt:lpstr>
      <vt:lpstr>微软雅黑</vt:lpstr>
      <vt:lpstr>方正黑体简体</vt:lpstr>
      <vt:lpstr>方正大黑简体</vt:lpstr>
      <vt:lpstr>Times New Roman</vt:lpstr>
      <vt:lpstr>方正行楷简体</vt:lpstr>
      <vt:lpstr>米芾</vt:lpstr>
      <vt:lpstr>KSOFD97691D7</vt:lpstr>
      <vt:lpstr>ESRI AMFM Electric</vt:lpstr>
      <vt:lpstr>KSOFD7C1B938</vt:lpstr>
      <vt:lpstr>Calibri</vt:lpstr>
      <vt:lpstr>Arial Unicode MS</vt:lpstr>
      <vt:lpstr>KSOF98BADBC5</vt:lpstr>
      <vt:lpstr>KSOFBDA573BA</vt:lpstr>
      <vt:lpstr>封面母版</vt:lpstr>
      <vt:lpstr>提纲母版</vt:lpstr>
      <vt:lpstr>正文母版</vt:lpstr>
      <vt:lpstr>结尾页母版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一帆风顺</cp:lastModifiedBy>
  <cp:revision>1519</cp:revision>
  <cp:lastPrinted>2022-08-17T05:27:00Z</cp:lastPrinted>
  <dcterms:created xsi:type="dcterms:W3CDTF">2022-08-17T05:27:00Z</dcterms:created>
  <dcterms:modified xsi:type="dcterms:W3CDTF">2026-07-03T02:07:35Z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0x0101000AB411A42BDFB042BC19FBC21FE2BDA7</vt:lpwstr>
  </property>
  <property fmtid="{D5CDD505-2E9C-101B-9397-08002B2CF9AE}" pid="3" name="ICV">
    <vt:lpwstr>7F2D845FB3F74924A81A74506E50950A_13</vt:lpwstr>
  </property>
  <property fmtid="{D5CDD505-2E9C-101B-9397-08002B2CF9AE}" pid="4" name="KSOProductBuildVer">
    <vt:lpwstr>2052-12.1.0.26895</vt:lpwstr>
  </property>
</Properties>
</file>